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73" r:id="rId3"/>
    <p:sldId id="282" r:id="rId4"/>
    <p:sldId id="274" r:id="rId5"/>
    <p:sldId id="275" r:id="rId6"/>
    <p:sldId id="283" r:id="rId7"/>
    <p:sldId id="257" r:id="rId8"/>
    <p:sldId id="258" r:id="rId9"/>
    <p:sldId id="259" r:id="rId10"/>
    <p:sldId id="260" r:id="rId11"/>
    <p:sldId id="278" r:id="rId12"/>
    <p:sldId id="279" r:id="rId13"/>
    <p:sldId id="261" r:id="rId14"/>
    <p:sldId id="280" r:id="rId15"/>
    <p:sldId id="28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6" r:id="rId26"/>
    <p:sldId id="271" r:id="rId27"/>
    <p:sldId id="277" r:id="rId28"/>
    <p:sldId id="27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9FAE82-B737-7F40-A194-DA6AFB8C282D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E40A97-5D17-CC4F-AF4F-7BDD5C43E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40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 is it MVC – Model View Controller – this is not set in stone – it is something negotiated between the developer and the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40A97-5D17-CC4F-AF4F-7BDD5C43EDB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1594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39F55-4384-D98B-3F14-0F6D0735A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3A679F-0590-2AFC-5942-B4870D28B6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D7415C-69C0-2C9B-747C-DD863A87B8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 based on the fact that we don’t always know what we are doing – and have to learn as we go. Which is better for Web Development?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ED5306-79CF-C140-D203-A15EECA5A0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40A97-5D17-CC4F-AF4F-7BDD5C43EDB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9833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B1902-3E51-C9E3-258E-7456F7BA4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3726E6-3078-10A3-213B-2AC1E62A01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CD0133-0ED7-ACCB-3C9B-8BB28D9F02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 based on the fact that we don’t always know what we are doing – and have to learn as we go.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4B17F-0E55-9828-8C39-0FFF775FA9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40A97-5D17-CC4F-AF4F-7BDD5C43EDB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032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BD4B1-51F1-1EC7-EFDD-47722593F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E70A99-9D90-F6BD-B0D3-375D3B1803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B1B595-AD71-0130-F120-CC95B7CCD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 based on the fact that we don’t always know what we are doing – and have to learn as we go. The iterations in a sprint-based approach allow us to learn and apply what we have learned.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20159-D218-785B-0435-FE925736E1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40A97-5D17-CC4F-AF4F-7BDD5C43EDB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9195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C11DD-F303-F133-B42F-7B84475CC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0DB8E3-EC84-6448-D889-22CB2A2D57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D7C98F-7B4B-5FC2-A6B2-458909F17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Agile projects can be tough on the client – as we are always involving them.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6DB828-368F-211B-08F4-1E9DFC1689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40A97-5D17-CC4F-AF4F-7BDD5C43EDB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4639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F286B-20AF-72DF-20A9-C48CEC67A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D4CA7C-8D3E-16D8-2681-43DC2F00F3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FAF969-1C07-E723-8CBE-F4273B0AE2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have a client who espouses waterfall – you have to adapt your agile methods to their </a:t>
            </a:r>
            <a:r>
              <a:rPr lang="en-US"/>
              <a:t>waterfall processes.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0EDA0-CDD4-AB14-2E50-11EA6C91D9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40A97-5D17-CC4F-AF4F-7BDD5C43EDB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2814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 based on the fact that we don’t always know what we are doing – and have to learn as we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40A97-5D17-CC4F-AF4F-7BDD5C43EDB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3771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loop versus the cascade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40A97-5D17-CC4F-AF4F-7BDD5C43EDB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7783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70E3C-96E0-1B2B-E70B-B558F6CB3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6C124D-CAF8-510B-761B-247B6D3D9E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98AA51-BE88-935C-C48C-63366C4420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loop versus the cascade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6D28C-4930-9921-6659-724677628C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40A97-5D17-CC4F-AF4F-7BDD5C43EDB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9965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F62B6-6AA9-D226-2170-D6564A1E5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966215-4758-40D8-9855-179C80F8C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3D76AB-6793-FBAE-26AE-37B9D613BD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loop versus the cascade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1F307-3A7A-B164-F3C7-73FB7FC46D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40A97-5D17-CC4F-AF4F-7BDD5C43EDB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4836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A. killer feature is one that is core to the functioning of the entire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40A97-5D17-CC4F-AF4F-7BDD5C43EDB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4518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MVP is the start of the process – when they might expect to not be a part of the process and only interact when the work is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40A97-5D17-CC4F-AF4F-7BDD5C43EDB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0012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Sometimes a client has to be slowly introduced to the working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40A97-5D17-CC4F-AF4F-7BDD5C43EDB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996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Perfect is the enemy of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40A97-5D17-CC4F-AF4F-7BDD5C43EDB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3180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/>
              <a:t>(Hint: Cut everything that isn't the "Core Action").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40A97-5D17-CC4F-AF4F-7BDD5C43EDB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998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core and set aside the nice to have.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40A97-5D17-CC4F-AF4F-7BDD5C43EDB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531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653E2-B3EC-E8CE-01E2-6AE4243A00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5E1567-261A-7616-7255-EC4B75A6D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2BF9A-C644-8177-B40F-4EE17ABDE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B58A6-CA93-3344-8BDB-AC5DD5B198C1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56D8E-4765-A50B-9C4F-E09556C96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E7F7B-B39A-CA5A-C59E-D1D938F47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AF47-1C63-254F-B2D1-B4A6EFA8E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62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F96EC-AFE0-5E30-C713-4FAE43395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828B1-E0A5-E968-9231-F466D2FFE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C6EAB-C891-0986-B26A-D086F86DD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B58A6-CA93-3344-8BDB-AC5DD5B198C1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DDFC3-2BC8-BA58-6B0E-7CA853B50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38A9D-7338-ACDA-9133-41D9E9239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AF47-1C63-254F-B2D1-B4A6EFA8E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460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F3B2D-A9C4-97FF-0786-579D312F1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09DE6-3522-AA5A-7F51-58940CE18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DBFEB-585E-478E-7D77-BF787BC84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B58A6-CA93-3344-8BDB-AC5DD5B198C1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E1AD4-F087-D9A6-1636-2B6896292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94E04-52B8-6F6B-F127-52A74AE17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AF47-1C63-254F-B2D1-B4A6EFA8E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712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F94A6-8654-E997-A5D9-59EFEF0F5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5878C-16DB-50EA-E725-3E7F25A6C6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D86595-0250-B50B-02B7-F3B24F265D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3E1304-F60B-BFD1-D5BA-7D39C28CF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B58A6-CA93-3344-8BDB-AC5DD5B198C1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633DC-6E71-81EC-D6C3-6B4CE1D86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FFC0E-2AC5-99F5-71E2-E12E79424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AF47-1C63-254F-B2D1-B4A6EFA8E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305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4E498-150A-9FC3-6BB7-9A57F89AD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614D4A-25CE-56D8-F066-0161594C4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13F1E-A667-54AB-C983-4A2138032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326A83-301D-690B-2527-7953E70BF2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EE8B0E-2363-9643-8837-2BCA37B92E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6EABC3-6AFA-A7F8-6858-23C5790E1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B58A6-CA93-3344-8BDB-AC5DD5B198C1}" type="datetimeFigureOut">
              <a:rPr lang="en-US" smtClean="0"/>
              <a:t>2/3/26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A13490-337B-3ED4-19EF-89D2EE9C3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FE9265-D72F-5335-9925-CA715DCD5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AF47-1C63-254F-B2D1-B4A6EFA8E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644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12494-15E8-12DA-CB4F-5662297B3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E76B0A-6426-072A-5CEB-F0F901CFD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B58A6-CA93-3344-8BDB-AC5DD5B198C1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A7072F-CB59-ABF8-03EF-85FA7819E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ECEDE3-EE77-678D-7F67-03F81456F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AF47-1C63-254F-B2D1-B4A6EFA8E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184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EF2F8A-30CD-171A-27F0-645C35F53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B58A6-CA93-3344-8BDB-AC5DD5B198C1}" type="datetimeFigureOut">
              <a:rPr lang="en-US" smtClean="0"/>
              <a:t>2/3/26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AAF8BE-A1A4-F305-C0B9-D34B5770B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8FD64-B572-4CCA-98F9-74337715A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AF47-1C63-254F-B2D1-B4A6EFA8E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877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818F0-CC55-F682-51F1-646FBBD8B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D420D-9847-7478-83F5-A9433E792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930EA3-EEB7-A0AC-DA29-FB6B7946A5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6ABED9-8A99-827F-9F51-430E63DDF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B58A6-CA93-3344-8BDB-AC5DD5B198C1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22F78B-5464-5F77-384B-06A04E3B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AD201-3FFF-1CA4-8D4F-F00CC7A44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AF47-1C63-254F-B2D1-B4A6EFA8E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00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3E308-EF04-298F-B271-D84D59951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E17143-B2EC-34F2-949A-838603587F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D79543-1ABF-6245-CDF0-4808BB658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FE3564-F830-0BC0-D04E-814BF7099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B58A6-CA93-3344-8BDB-AC5DD5B198C1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7ED914-2A70-41F0-BB41-1AEA8E300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0B446E-E835-14DA-0FC9-065FEFF9F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AF47-1C63-254F-B2D1-B4A6EFA8E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163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953D8-C3EB-7D2B-2EBC-6232C1426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CC46C9-C08D-807C-EBBD-64B1DF5D62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9D616-5B2C-E605-796A-D0B68CCF3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B58A6-CA93-3344-8BDB-AC5DD5B198C1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476F1-F799-D599-47F4-48E263B32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CF363-30B8-7466-8A27-665D26F20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AF47-1C63-254F-B2D1-B4A6EFA8E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32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F1EE42-7B19-0618-C71B-68E8BE00AD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7F7E41-E34A-7C30-BC03-6497C138F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23B2E-A05C-606C-CAC1-72713B455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B58A6-CA93-3344-8BDB-AC5DD5B198C1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2C286-4ED4-B1DE-C224-BBDDB6155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3ACDF-C0E5-6350-52A5-9B7AA82B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AF47-1C63-254F-B2D1-B4A6EFA8E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116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75BC7C-366E-42C5-3787-3314CCC16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2DE4AC-5B14-B5C8-47FB-6092B7F63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872C5-EDCE-2FE2-87F3-897555363B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7B58A6-CA93-3344-8BDB-AC5DD5B198C1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06313-32B8-7B46-1C38-BA75AB7F31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16AD6-52CD-6ED1-AA9B-ED91C50CC5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BCAF47-1C63-254F-B2D1-B4A6EFA8E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317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C12CC-E4C5-C9F6-E8D8-8DA6FE1D81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is an MVP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5E6139-F2AD-C884-27CA-FA818F0A63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least amount of work for the most amount of value</a:t>
            </a:r>
          </a:p>
        </p:txBody>
      </p:sp>
    </p:spTree>
    <p:extLst>
      <p:ext uri="{BB962C8B-B14F-4D97-AF65-F5344CB8AC3E}">
        <p14:creationId xmlns:p14="http://schemas.microsoft.com/office/powerpoint/2010/main" val="848071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451BE-7735-8BE6-7AEA-E2867CB30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D29A7-31D5-EE58-9C11-DABBAB2B3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MVP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97670-0B49-23E3-1021-CFDD67666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There are two types of project management styles: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Waterfall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Agile</a:t>
            </a:r>
          </a:p>
        </p:txBody>
      </p:sp>
    </p:spTree>
    <p:extLst>
      <p:ext uri="{BB962C8B-B14F-4D97-AF65-F5344CB8AC3E}">
        <p14:creationId xmlns:p14="http://schemas.microsoft.com/office/powerpoint/2010/main" val="395232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C8CE4-E5EE-0500-4312-F645C1600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F5B12-264E-7D8C-836C-D3326F89B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MVP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1AD52-0CE7-0193-1941-9B6220594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CA" b="1" dirty="0"/>
              <a:t>Waterfall – The "Big Bang" Approach</a:t>
            </a:r>
          </a:p>
          <a:p>
            <a:pPr marL="0" indent="0">
              <a:buNone/>
            </a:pPr>
            <a:r>
              <a:rPr lang="en-CA" b="1" dirty="0"/>
              <a:t>Linear and Sequential</a:t>
            </a:r>
            <a:endParaRPr lang="en-CA" dirty="0"/>
          </a:p>
          <a:p>
            <a:pPr marL="0" indent="0">
              <a:buNone/>
            </a:pPr>
            <a:r>
              <a:rPr lang="en-CA" b="1" dirty="0"/>
              <a:t>The Concept:</a:t>
            </a:r>
            <a:r>
              <a:rPr lang="en-CA" dirty="0"/>
              <a:t> You move through phases like a literal waterfall. You can’t go back "up" once you’ve moved down.</a:t>
            </a:r>
          </a:p>
          <a:p>
            <a:pPr marL="0" indent="0">
              <a:buNone/>
            </a:pPr>
            <a:r>
              <a:rPr lang="en-CA" b="1" dirty="0"/>
              <a:t>The Steps:</a:t>
            </a:r>
            <a:r>
              <a:rPr lang="en-CA" dirty="0"/>
              <a:t> Requirements &gt; Design &gt; Implementation &gt; Verification &gt; Maintenance.</a:t>
            </a:r>
          </a:p>
          <a:p>
            <a:pPr marL="0" indent="0">
              <a:buNone/>
            </a:pPr>
            <a:r>
              <a:rPr lang="en-CA" b="1" dirty="0"/>
              <a:t>The Risk:</a:t>
            </a:r>
            <a:r>
              <a:rPr lang="en-CA" dirty="0"/>
              <a:t> You don’t see the final product until the very end. If the requirements were wrong at the start, you’ve wasted the entire budget.</a:t>
            </a:r>
          </a:p>
          <a:p>
            <a:pPr marL="0" indent="0">
              <a:buNone/>
            </a:pPr>
            <a:r>
              <a:rPr lang="en-CA" b="1" dirty="0"/>
              <a:t>Best For:</a:t>
            </a:r>
            <a:r>
              <a:rPr lang="en-CA" dirty="0"/>
              <a:t> Projects with fixed, unchanging requirements (like building a physical bridge).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28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1A31B-DC4C-8FF0-284D-77D0F3DEE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C8A06-ADFD-0599-8F63-301B32C49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MVP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6B047-BC17-35D2-9EEC-BB6062CC2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Agile – The Iterative Loop</a:t>
            </a:r>
            <a:endParaRPr lang="en-US" alt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Google Sans Text"/>
              </a:rPr>
              <a:t>The Concept:</a:t>
            </a:r>
            <a:r>
              <a:rPr lang="en-US" altLang="en-US" dirty="0">
                <a:latin typeface="Google Sans Text"/>
              </a:rPr>
              <a:t> Work is broken into small chunks called </a:t>
            </a:r>
            <a:r>
              <a:rPr lang="en-US" altLang="en-US" b="1" dirty="0">
                <a:latin typeface="Google Sans Text"/>
              </a:rPr>
              <a:t>Sprints</a:t>
            </a:r>
            <a:r>
              <a:rPr lang="en-US" altLang="en-US" dirty="0">
                <a:latin typeface="Google Sans Text"/>
              </a:rPr>
              <a:t> (usually 1–4 weeks).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Google Sans Text"/>
              </a:rPr>
              <a:t>The Process:</a:t>
            </a:r>
            <a:r>
              <a:rPr lang="en-US" altLang="en-US" dirty="0">
                <a:latin typeface="Google Sans Text"/>
              </a:rPr>
              <a:t> Plan &gt; Design &gt; Build &gt; Test &gt; Review. Then </a:t>
            </a:r>
            <a:r>
              <a:rPr lang="en-US" altLang="en-US" b="1" dirty="0">
                <a:latin typeface="Google Sans Text"/>
              </a:rPr>
              <a:t>repeat.</a:t>
            </a:r>
            <a:endParaRPr lang="en-US" altLang="en-US" dirty="0">
              <a:latin typeface="Google Sans Tex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Google Sans Text"/>
              </a:rPr>
              <a:t>The Feedback Loop:</a:t>
            </a:r>
            <a:r>
              <a:rPr lang="en-US" altLang="en-US" dirty="0">
                <a:latin typeface="Google Sans Text"/>
              </a:rPr>
              <a:t> You show the work to the client at the end of every sprint.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Google Sans Text"/>
              </a:rPr>
              <a:t>The MVP Connection:</a:t>
            </a:r>
            <a:r>
              <a:rPr lang="en-US" altLang="en-US" dirty="0">
                <a:latin typeface="Google Sans Text"/>
              </a:rPr>
              <a:t> Agile is designed to produce a "working version" as soon as possible to gather data.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54D8D0B-C156-3A9C-BC3E-A0C9987C8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679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F7A89-9F48-F059-203B-514350A5B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89F2A-D9A2-BC4B-6FDB-4F85CEEE4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MVP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F7CB2-124C-DE3D-6F49-C8BABE48D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Waterfall vs. Agile (The Comparison)</a:t>
            </a:r>
          </a:p>
          <a:p>
            <a:pPr marL="0" indent="0">
              <a:buNone/>
            </a:pPr>
            <a:r>
              <a:rPr lang="en-CA" sz="1400" b="1" dirty="0"/>
              <a:t>Choosing the Right Tool for the Job</a:t>
            </a:r>
            <a:endParaRPr lang="en-CA" sz="1400" dirty="0"/>
          </a:p>
          <a:p>
            <a:pPr marL="0" indent="0">
              <a:buNone/>
            </a:pPr>
            <a:endParaRPr lang="en-CA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463D333-8826-7296-6284-8D95FE7D3E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09660"/>
              </p:ext>
            </p:extLst>
          </p:nvPr>
        </p:nvGraphicFramePr>
        <p:xfrm>
          <a:off x="838200" y="2721134"/>
          <a:ext cx="10515600" cy="25603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25019018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7721649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666796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Feature</a:t>
                      </a:r>
                      <a:endParaRPr lang="en-CA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Waterfall</a:t>
                      </a:r>
                      <a:endParaRPr lang="en-CA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Agile</a:t>
                      </a:r>
                      <a:endParaRPr lang="en-CA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6749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Requirements</a:t>
                      </a:r>
                      <a:endParaRPr lang="en-CA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Fixed upfront.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Evolving/Flexible.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318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Delivery</a:t>
                      </a:r>
                      <a:endParaRPr lang="en-CA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Single "Big Bang" at the end.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Incremental "Slices."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2514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Risk (in Web development)</a:t>
                      </a:r>
                      <a:endParaRPr lang="en-CA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 (Failure found at the end).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Low (Mistakes caught early).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713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Client Role</a:t>
                      </a:r>
                      <a:endParaRPr lang="en-CA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Involved at start and end.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Involved throughout.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2185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Success Metric</a:t>
                      </a:r>
                      <a:endParaRPr lang="en-CA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Following the initial plan.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Delivering value to the user.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617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2203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C689D-ACAC-C03D-2087-BA4A08012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23586-EA89-ACC3-FB66-BAC50C3BF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MVP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73F6A-9BCC-BDC7-1F9E-44DF35600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Waterfall vs. Agile </a:t>
            </a:r>
            <a:endParaRPr lang="en-CA" sz="1400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The answer is – sometimes both.</a:t>
            </a:r>
          </a:p>
        </p:txBody>
      </p:sp>
    </p:spTree>
    <p:extLst>
      <p:ext uri="{BB962C8B-B14F-4D97-AF65-F5344CB8AC3E}">
        <p14:creationId xmlns:p14="http://schemas.microsoft.com/office/powerpoint/2010/main" val="2950272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B72C8-750F-C1C7-E074-00C24DD48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MVP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247E6-ABC9-7AB1-E8B2-713B5BE90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The MVP Blueprint: Building Smarter, Not Working Harder.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The least amount of work for the most amount of value.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Start with something simple and then add complexity.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097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BE87F-D15A-5FAA-9088-5CAE25FD5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14D8F-F5B6-FA0F-12B5-9101729B7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MVP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31470-CFB1-D495-CDD5-7048E5246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The Definition</a:t>
            </a:r>
            <a:endParaRPr lang="en-CA" dirty="0"/>
          </a:p>
          <a:p>
            <a:pPr marL="0" indent="0">
              <a:buNone/>
            </a:pPr>
            <a:r>
              <a:rPr lang="en-CA" b="1" dirty="0"/>
              <a:t>Minimum:</a:t>
            </a:r>
            <a:r>
              <a:rPr lang="en-CA" dirty="0"/>
              <a:t> The smallest possible set of features.</a:t>
            </a:r>
          </a:p>
          <a:p>
            <a:pPr marL="0" indent="0">
              <a:buNone/>
            </a:pPr>
            <a:r>
              <a:rPr lang="en-CA" b="1" dirty="0"/>
              <a:t>Viable:</a:t>
            </a:r>
            <a:r>
              <a:rPr lang="en-CA" dirty="0"/>
              <a:t> It solves the core problem for the user.</a:t>
            </a:r>
          </a:p>
          <a:p>
            <a:pPr marL="0" indent="0">
              <a:buNone/>
            </a:pPr>
            <a:r>
              <a:rPr lang="en-CA" b="1" dirty="0"/>
              <a:t>Product:</a:t>
            </a:r>
            <a:r>
              <a:rPr lang="en-CA" dirty="0"/>
              <a:t> Something people can use today.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Key Concept:</a:t>
            </a:r>
            <a:r>
              <a:rPr lang="en-CA" dirty="0"/>
              <a:t> It’s not a "half-baked" product; it’s a "thin-slice" of a larger application or set of features.</a:t>
            </a:r>
          </a:p>
        </p:txBody>
      </p:sp>
    </p:spTree>
    <p:extLst>
      <p:ext uri="{BB962C8B-B14F-4D97-AF65-F5344CB8AC3E}">
        <p14:creationId xmlns:p14="http://schemas.microsoft.com/office/powerpoint/2010/main" val="2971235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C933F-8D53-1A46-EC9D-B82E611C8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A5ED8-3210-8DD3-EEC6-0F499FF9E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MVP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E05A2-943C-5F5F-13B6-643187FCE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The MVP Philosophy</a:t>
            </a:r>
          </a:p>
          <a:p>
            <a:pPr marL="0" indent="0">
              <a:buNone/>
            </a:pPr>
            <a:r>
              <a:rPr lang="en-CA" b="1" dirty="0"/>
              <a:t>Think Big, Start Small</a:t>
            </a:r>
            <a:endParaRPr lang="en-CA" dirty="0"/>
          </a:p>
          <a:p>
            <a:pPr marL="0" indent="0">
              <a:buNone/>
            </a:pPr>
            <a:r>
              <a:rPr lang="en-CA" dirty="0"/>
              <a:t>It’s about </a:t>
            </a:r>
            <a:r>
              <a:rPr lang="en-CA" b="1" dirty="0"/>
              <a:t>validated learning.</a:t>
            </a: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Every feature you build is a hypothesis. The MVP is the experiment to see if that hypothesis is correct.</a:t>
            </a:r>
          </a:p>
        </p:txBody>
      </p:sp>
    </p:spTree>
    <p:extLst>
      <p:ext uri="{BB962C8B-B14F-4D97-AF65-F5344CB8AC3E}">
        <p14:creationId xmlns:p14="http://schemas.microsoft.com/office/powerpoint/2010/main" val="4134925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80931-9FF6-F06F-DCD7-5C8168E62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65113-9594-7B6B-F35A-266273D1B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MVP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9E25D-68A1-710D-6397-119089FA1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b="1" dirty="0"/>
              <a:t>MVP in the Agile Lifecycle</a:t>
            </a:r>
          </a:p>
          <a:p>
            <a:pPr marL="0" indent="0">
              <a:buNone/>
            </a:pPr>
            <a:r>
              <a:rPr lang="en-CA" b="1" dirty="0"/>
              <a:t>The "Build-Measure-Learn" Loop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	In Agile, we don’t build the whole map at once.</a:t>
            </a:r>
          </a:p>
          <a:p>
            <a:pPr marL="0" indent="0">
              <a:buNone/>
            </a:pPr>
            <a:r>
              <a:rPr lang="en-CA" dirty="0"/>
              <a:t>	The MVP is the first "lap" of the race.</a:t>
            </a:r>
          </a:p>
          <a:p>
            <a:pPr marL="0" indent="0">
              <a:buNone/>
            </a:pPr>
            <a:r>
              <a:rPr lang="en-CA" dirty="0"/>
              <a:t>	It provides the data you need for the next </a:t>
            </a:r>
            <a:r>
              <a:rPr lang="en-CA" b="1" dirty="0"/>
              <a:t>Sprint</a:t>
            </a:r>
            <a:r>
              <a:rPr lang="en-CA" dirty="0"/>
              <a:t>.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Agile relies on the MVP</a:t>
            </a:r>
            <a:r>
              <a:rPr lang="en-CA" dirty="0"/>
              <a:t> to ensure the team is moving in the right direction before spending the whole budget.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334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287E9-2F29-721C-B71E-580167EC4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B46E9-F960-320E-5DF7-DA1072097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MVP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228E1-6BDE-71FD-92BC-7276BC336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Web development – 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We build content management systems. </a:t>
            </a:r>
            <a:endParaRPr lang="en-CA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878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61D99-BA86-36C5-A404-C49E443D2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AABA1-D756-E42B-164D-40A261497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MVP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00D0B-4F5D-C269-DE56-5016A7EB2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Web Development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We design, build, and launch complex database driven Web sites.</a:t>
            </a:r>
            <a:endParaRPr lang="en-CA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578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FE8C9-496E-50D7-20D1-8FF91C3AC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63A23-D0CF-DEC1-FAE1-08CD6F084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MVP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4FC65-C333-86F2-4753-D712869EB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Web Development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It is the database that resides at the core of what we do. As a result, your work is to build features the support the essential database functions.</a:t>
            </a:r>
            <a:endParaRPr lang="en-CA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823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A3672-8A0F-F1B8-35CB-955A883C2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B06DD-C0DD-B4FE-99FA-0B7B2F853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MVP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32106-85F8-DE14-9CD8-E4BB6444D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Web Development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These are CRUD – Create Read Update and Delete.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 feature has to have CRUD, or it is not a feature.</a:t>
            </a:r>
            <a:endParaRPr lang="en-CA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167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7F959-F01C-402B-A334-68EDB0A9B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E099D-E6F2-AB68-D09C-F056266FA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MVP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A60D7-83F5-3D6B-DBE5-8343DEC5B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Web Development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Your MVP must address CRUD. </a:t>
            </a:r>
            <a:endParaRPr lang="en-CA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3498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952B3-C461-85D2-1D1B-5741E484E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6FE11-0D96-F273-40D6-8CA967821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MVP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F671E-0C80-E544-056F-B75F3F2A7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The "Viable" in MVP</a:t>
            </a:r>
          </a:p>
          <a:p>
            <a:pPr marL="0" indent="0">
              <a:buNone/>
            </a:pPr>
            <a:r>
              <a:rPr lang="en-CA" b="1" dirty="0"/>
              <a:t>Quality is Not Negotiable</a:t>
            </a:r>
            <a:endParaRPr lang="en-CA" dirty="0"/>
          </a:p>
          <a:p>
            <a:pPr marL="0" indent="0">
              <a:buNone/>
            </a:pPr>
            <a:r>
              <a:rPr lang="en-CA" dirty="0"/>
              <a:t>	"Minimum" doesn't mean "full of bugs."</a:t>
            </a:r>
          </a:p>
          <a:p>
            <a:pPr marL="0" indent="0">
              <a:buNone/>
            </a:pPr>
            <a:r>
              <a:rPr lang="en-CA" dirty="0"/>
              <a:t>	If your MVP crashes, you aren't testing the </a:t>
            </a:r>
            <a:r>
              <a:rPr lang="en-CA" i="1" dirty="0"/>
              <a:t>idea</a:t>
            </a:r>
            <a:r>
              <a:rPr lang="en-CA" dirty="0"/>
              <a:t>, you're testing 	the user's patience.</a:t>
            </a:r>
          </a:p>
          <a:p>
            <a:pPr marL="0" indent="0">
              <a:buNone/>
            </a:pPr>
            <a:r>
              <a:rPr lang="en-CA" b="1" dirty="0"/>
              <a:t>	Rule of Thumb:</a:t>
            </a:r>
            <a:r>
              <a:rPr lang="en-CA" dirty="0"/>
              <a:t> Focus on one "Killer Feature" and execute it 	perfectly.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391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A9DB3-BE7F-FC35-9F12-C60469DE3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D968F-6322-454A-B049-89F1AD371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MVP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61D34-4458-4A99-0FDC-706F8EA59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The Client Dilemma</a:t>
            </a:r>
          </a:p>
          <a:p>
            <a:pPr marL="0" indent="0">
              <a:buNone/>
            </a:pPr>
            <a:r>
              <a:rPr lang="en-CA" b="1" dirty="0"/>
              <a:t>"I Want It All Now!”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	Clients often see an MVP as "getting less for their money."</a:t>
            </a:r>
          </a:p>
          <a:p>
            <a:pPr marL="0" indent="0">
              <a:buNone/>
            </a:pPr>
            <a:r>
              <a:rPr lang="en-CA" dirty="0"/>
              <a:t>	They might feel like they are launching an unfinished product.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Reality Check:</a:t>
            </a:r>
            <a:r>
              <a:rPr lang="en-CA" dirty="0"/>
              <a:t> Most "Must-Have" features are actually "Nice-to-Haves" once real data comes in.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4045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AE915-C26A-6320-D0A0-5279E502C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60BB8-4572-ED14-22C2-8C6999371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MVP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C0E04-4670-1FED-ACE0-660A20316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How to Talk to Clients About MVPs</a:t>
            </a:r>
          </a:p>
          <a:p>
            <a:pPr marL="0" indent="0">
              <a:buNone/>
            </a:pPr>
            <a:r>
              <a:rPr lang="en-CA" b="1" dirty="0"/>
              <a:t>The "Wedding Cake" Analogy</a:t>
            </a:r>
            <a:endParaRPr lang="en-CA" dirty="0"/>
          </a:p>
          <a:p>
            <a:pPr marL="0" indent="0">
              <a:buNone/>
            </a:pPr>
            <a:r>
              <a:rPr lang="en-CA" dirty="0"/>
              <a:t>	Don't sell them "half a cake."</a:t>
            </a:r>
          </a:p>
          <a:p>
            <a:pPr marL="0" indent="0">
              <a:buNone/>
            </a:pPr>
            <a:r>
              <a:rPr lang="en-CA" dirty="0"/>
              <a:t>	Sell them a </a:t>
            </a:r>
            <a:r>
              <a:rPr lang="en-CA" b="1" dirty="0"/>
              <a:t>muffin</a:t>
            </a:r>
            <a:r>
              <a:rPr lang="en-CA" dirty="0"/>
              <a:t>. It has the cake, the filling, and it's just 	smaller.</a:t>
            </a:r>
          </a:p>
          <a:p>
            <a:pPr marL="0" indent="0">
              <a:buNone/>
            </a:pPr>
            <a:r>
              <a:rPr lang="en-CA" dirty="0"/>
              <a:t>	Explain that an MVP protects their investment by preventing 	"Feature Creep."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5198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65172-FBA2-CC1A-32D1-38CE007F1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53D2E-08EF-EBBF-7CE4-0B3C44B51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MVP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9B07C-13B5-56E4-61DC-BAB520C21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Managing Expectations</a:t>
            </a:r>
          </a:p>
          <a:p>
            <a:pPr marL="0" indent="0">
              <a:buNone/>
            </a:pPr>
            <a:r>
              <a:rPr lang="en-CA" b="1" dirty="0"/>
              <a:t>Strategies for the Skeptical Client</a:t>
            </a:r>
            <a:endParaRPr lang="en-CA" dirty="0"/>
          </a:p>
          <a:p>
            <a:pPr marL="0" indent="0">
              <a:buNone/>
            </a:pPr>
            <a:r>
              <a:rPr lang="en-CA" b="1" dirty="0"/>
              <a:t>	Show, Don't Just Tell:</a:t>
            </a:r>
            <a:r>
              <a:rPr lang="en-CA" dirty="0"/>
              <a:t> Use wireframes to show the core flow.</a:t>
            </a:r>
          </a:p>
          <a:p>
            <a:pPr marL="0" indent="0">
              <a:buNone/>
            </a:pPr>
            <a:r>
              <a:rPr lang="en-CA" b="1" dirty="0"/>
              <a:t>	The Roadmap:</a:t>
            </a:r>
            <a:r>
              <a:rPr lang="en-CA" dirty="0"/>
              <a:t> Show them </a:t>
            </a:r>
            <a:r>
              <a:rPr lang="en-CA" i="1" dirty="0"/>
              <a:t>when</a:t>
            </a:r>
            <a:r>
              <a:rPr lang="en-CA" dirty="0"/>
              <a:t> their other ideas will be built 	(Phase 2, Phase 3).</a:t>
            </a:r>
          </a:p>
          <a:p>
            <a:pPr marL="0" indent="0">
              <a:buNone/>
            </a:pPr>
            <a:r>
              <a:rPr lang="en-CA" b="1" dirty="0"/>
              <a:t>	Data over Drama:</a:t>
            </a:r>
            <a:r>
              <a:rPr lang="en-CA" dirty="0"/>
              <a:t> "Let’s launch the core tool, see how users 	behave, and let </a:t>
            </a:r>
            <a:r>
              <a:rPr lang="en-CA" i="1" dirty="0"/>
              <a:t>their</a:t>
            </a:r>
            <a:r>
              <a:rPr lang="en-CA" dirty="0"/>
              <a:t> actions decide the next feature."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317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06757-4736-7276-0FE0-F6D0047C3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4A87F-7376-A90D-9149-2A1F4D906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MVP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AD2D6-8C5E-C54A-B15F-6C48F698B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Tips for New Developers (Part 1)</a:t>
            </a:r>
          </a:p>
          <a:p>
            <a:pPr marL="0" indent="0">
              <a:buNone/>
            </a:pPr>
            <a:r>
              <a:rPr lang="en-CA" b="1" dirty="0"/>
              <a:t>Technical Focus</a:t>
            </a:r>
            <a:endParaRPr lang="en-CA" dirty="0"/>
          </a:p>
          <a:p>
            <a:pPr marL="0" indent="0">
              <a:buNone/>
            </a:pPr>
            <a:r>
              <a:rPr lang="en-CA" b="1" dirty="0"/>
              <a:t>	Avoid "Gold-Plating":</a:t>
            </a:r>
            <a:r>
              <a:rPr lang="en-CA" dirty="0"/>
              <a:t> Don't spend three days perfecting a 	CSS animation for a button that might get deleted next week.</a:t>
            </a:r>
          </a:p>
          <a:p>
            <a:pPr marL="0" indent="0">
              <a:buNone/>
            </a:pPr>
            <a:r>
              <a:rPr lang="en-CA" b="1" dirty="0"/>
              <a:t>	Use Off-the-Shelf Tools:</a:t>
            </a:r>
            <a:r>
              <a:rPr lang="en-CA" dirty="0"/>
              <a:t> Don't build a custom authentication 	system for an MVP if Firebase or Auth0 will do.</a:t>
            </a:r>
          </a:p>
          <a:p>
            <a:pPr marL="0" indent="0">
              <a:buNone/>
            </a:pPr>
            <a:r>
              <a:rPr lang="en-CA" b="1" dirty="0"/>
              <a:t>	Keep Your Code Clean:</a:t>
            </a:r>
            <a:r>
              <a:rPr lang="en-CA" dirty="0"/>
              <a:t> An MVP needs to be extensible. 	You'll be adding to it soon!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3892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4DFC4-24BE-E5D6-B178-C020881A1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C6014-B8A2-2AAA-C5B1-9BDB736C2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MVP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EA774-602D-EDF4-2879-09F76DAE5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Tips for New Developers (Part 2)</a:t>
            </a:r>
          </a:p>
          <a:p>
            <a:pPr marL="0" indent="0">
              <a:buNone/>
            </a:pPr>
            <a:r>
              <a:rPr lang="en-CA" b="1" dirty="0"/>
              <a:t>The Mindset</a:t>
            </a:r>
            <a:endParaRPr lang="en-CA" dirty="0"/>
          </a:p>
          <a:p>
            <a:pPr marL="0" indent="0">
              <a:buNone/>
            </a:pPr>
            <a:r>
              <a:rPr lang="en-CA" b="1" dirty="0"/>
              <a:t>Fall in love with the problem, not the solution.</a:t>
            </a:r>
            <a:endParaRPr lang="en-CA" dirty="0"/>
          </a:p>
          <a:p>
            <a:pPr marL="0" indent="0">
              <a:buNone/>
            </a:pPr>
            <a:r>
              <a:rPr lang="en-CA" b="1" dirty="0"/>
              <a:t>Be okay with "Good Enough":</a:t>
            </a:r>
            <a:r>
              <a:rPr lang="en-CA" dirty="0"/>
              <a:t> If it works and it's secure, ship it.</a:t>
            </a:r>
          </a:p>
          <a:p>
            <a:pPr marL="0" indent="0">
              <a:buNone/>
            </a:pPr>
            <a:r>
              <a:rPr lang="en-CA" b="1" dirty="0"/>
              <a:t>Document your assumptions:</a:t>
            </a:r>
            <a:r>
              <a:rPr lang="en-CA" dirty="0"/>
              <a:t> Write down what you </a:t>
            </a:r>
            <a:r>
              <a:rPr lang="en-CA" i="1" dirty="0"/>
              <a:t>think</a:t>
            </a:r>
            <a:r>
              <a:rPr lang="en-CA" dirty="0"/>
              <a:t> users will do.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7381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F32E3-96AF-78C3-33DA-3DA6C41E2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B9EE5-255A-BBA9-7237-F71060BD8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MVP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878E7-A700-872B-2893-9ED1D3092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Reverse Engineering the MVP</a:t>
            </a:r>
          </a:p>
          <a:p>
            <a:pPr marL="0" indent="0">
              <a:buNone/>
            </a:pPr>
            <a:r>
              <a:rPr lang="en-CA" b="1" dirty="0"/>
              <a:t>Learning from the Giants</a:t>
            </a:r>
            <a:endParaRPr lang="en-CA" dirty="0"/>
          </a:p>
          <a:p>
            <a:pPr marL="0" indent="0">
              <a:buNone/>
            </a:pPr>
            <a:r>
              <a:rPr lang="en-CA" dirty="0"/>
              <a:t>Almost every billion-dollar site started as a "thin slice."</a:t>
            </a:r>
          </a:p>
          <a:p>
            <a:pPr marL="0" indent="0">
              <a:buNone/>
            </a:pPr>
            <a:r>
              <a:rPr lang="en-CA" b="1" dirty="0"/>
              <a:t>	Amazon:</a:t>
            </a:r>
            <a:r>
              <a:rPr lang="en-CA" dirty="0"/>
              <a:t> Just sold books. No Prime, no AWS, no Kindle.</a:t>
            </a:r>
          </a:p>
          <a:p>
            <a:pPr marL="0" indent="0">
              <a:buNone/>
            </a:pPr>
            <a:r>
              <a:rPr lang="en-CA" b="1" dirty="0"/>
              <a:t>	Facebook:</a:t>
            </a:r>
            <a:r>
              <a:rPr lang="en-CA" dirty="0"/>
              <a:t> Just a directory for Harvard students. No 	marketplace, no video.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6733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368DE-7437-B70A-599B-1842BF6E2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1CAB9-5CF3-C95E-DABD-6101DAD75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MVP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706C1-F660-43B9-42A3-F445202EC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Activity: "Strip it Down"</a:t>
            </a:r>
          </a:p>
          <a:p>
            <a:pPr marL="0" indent="0">
              <a:buNone/>
            </a:pPr>
            <a:r>
              <a:rPr lang="en-CA" b="1" dirty="0"/>
              <a:t>Team Challenge (Teams of 2)</a:t>
            </a:r>
            <a:endParaRPr lang="en-CA" dirty="0"/>
          </a:p>
          <a:p>
            <a:pPr marL="0" indent="0">
              <a:buNone/>
            </a:pPr>
            <a:r>
              <a:rPr lang="en-CA" b="1" dirty="0"/>
              <a:t>Target:</a:t>
            </a:r>
            <a:r>
              <a:rPr lang="en-CA" dirty="0"/>
              <a:t> A major site (e.g., eBay, Airbnb, or Netflix).</a:t>
            </a:r>
          </a:p>
          <a:p>
            <a:pPr marL="0" indent="0">
              <a:buNone/>
            </a:pPr>
            <a:r>
              <a:rPr lang="en-CA" b="1" dirty="0"/>
              <a:t>Task:</a:t>
            </a:r>
            <a:r>
              <a:rPr lang="en-CA" dirty="0"/>
              <a:t> Identify the </a:t>
            </a:r>
            <a:r>
              <a:rPr lang="en-CA" b="1" dirty="0"/>
              <a:t>Single Core Action</a:t>
            </a:r>
            <a:r>
              <a:rPr lang="en-CA" dirty="0"/>
              <a:t> that makes the site work.</a:t>
            </a:r>
          </a:p>
          <a:p>
            <a:pPr marL="0" indent="0">
              <a:buNone/>
            </a:pPr>
            <a:r>
              <a:rPr lang="en-CA" b="1" dirty="0"/>
              <a:t>Goal:</a:t>
            </a:r>
            <a:r>
              <a:rPr lang="en-CA" dirty="0"/>
              <a:t> Design an MVP version of that site that could be built in 4 weeks.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1976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13493-6D21-038A-2732-B59734B62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6D600-0973-F160-7610-D857142BE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MVP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474A0-C6FF-4457-3D7E-47754881A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6063" y="184664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CA" b="1" dirty="0"/>
              <a:t>Activity Guidelines</a:t>
            </a:r>
          </a:p>
          <a:p>
            <a:pPr marL="0" indent="0">
              <a:buNone/>
            </a:pPr>
            <a:r>
              <a:rPr lang="en-CA" b="1" dirty="0"/>
              <a:t>The "</a:t>
            </a:r>
            <a:r>
              <a:rPr lang="en-CA" b="1" dirty="0" err="1"/>
              <a:t>Ebay</a:t>
            </a:r>
            <a:r>
              <a:rPr lang="en-CA" b="1" dirty="0"/>
              <a:t>" Example</a:t>
            </a:r>
            <a:endParaRPr lang="en-CA" dirty="0"/>
          </a:p>
          <a:p>
            <a:pPr marL="0" indent="0">
              <a:buNone/>
            </a:pPr>
            <a:r>
              <a:rPr lang="en-CA" b="1" dirty="0"/>
              <a:t>Current eBay:</a:t>
            </a:r>
            <a:r>
              <a:rPr lang="en-CA" dirty="0"/>
              <a:t> Global shipping, bidding, "Buy it Now," rating systems, payment processing, dispute resolution, ads. What are all the things you can do on </a:t>
            </a:r>
            <a:r>
              <a:rPr lang="en-CA" dirty="0" err="1"/>
              <a:t>ebay</a:t>
            </a:r>
            <a:r>
              <a:rPr lang="en-CA" dirty="0"/>
              <a:t>?</a:t>
            </a:r>
          </a:p>
          <a:p>
            <a:pPr marL="0" indent="0">
              <a:buNone/>
            </a:pPr>
            <a:r>
              <a:rPr lang="en-CA" b="1" dirty="0"/>
              <a:t>The MVP:</a:t>
            </a:r>
            <a:r>
              <a:rPr lang="en-CA" dirty="0"/>
              <a:t> A simple list of items for sale and a way to message the seller.</a:t>
            </a:r>
          </a:p>
          <a:p>
            <a:pPr marL="0" indent="0">
              <a:buNone/>
            </a:pPr>
            <a:r>
              <a:rPr lang="en-CA" b="1" dirty="0"/>
              <a:t>What can you cut to reveal the MVP?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382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DC185-EAB7-1453-1F08-1910FB9AC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89680-C582-8753-6681-E8705D63D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MVP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EED58-6F2B-09FC-E5EE-5116E2795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Conclusion &amp; Next Steps</a:t>
            </a:r>
          </a:p>
          <a:p>
            <a:pPr marL="0" indent="0">
              <a:buNone/>
            </a:pPr>
            <a:r>
              <a:rPr lang="en-CA" b="1" dirty="0"/>
              <a:t>Ship Early, Ship Often</a:t>
            </a:r>
            <a:endParaRPr lang="en-CA" dirty="0"/>
          </a:p>
          <a:p>
            <a:pPr marL="0" indent="0">
              <a:buNone/>
            </a:pPr>
            <a:r>
              <a:rPr lang="en-CA" dirty="0"/>
              <a:t>An MVP is a conversation with your user.</a:t>
            </a:r>
          </a:p>
          <a:p>
            <a:pPr marL="0" indent="0">
              <a:buNone/>
            </a:pPr>
            <a:r>
              <a:rPr lang="en-CA" dirty="0"/>
              <a:t>Don't be afraid to be "embarrassed" by your first version (LinkedIn founder Reid Hoffman said if you aren't, you launched too late).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1919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43D8C-7383-3206-17A6-B5D269983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9DCC5-10E2-0E90-B024-6A52CA725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MVP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D61D8-2BA5-2794-CBE2-37B8B8F9A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Conclusion &amp; Next Steps</a:t>
            </a:r>
          </a:p>
          <a:p>
            <a:pPr marL="0" indent="0">
              <a:buNone/>
            </a:pPr>
            <a:r>
              <a:rPr lang="en-CA" b="1" dirty="0"/>
              <a:t>Your turn to create an MVP.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Working with a partner you will pick a large application or Web site. Then you will draw up a list of all the features.</a:t>
            </a:r>
          </a:p>
          <a:p>
            <a:pPr marL="0" indent="0">
              <a:buNone/>
            </a:pPr>
            <a:r>
              <a:rPr lang="en-US" dirty="0"/>
              <a:t>Then you will start removing features until only the core features remain. </a:t>
            </a:r>
          </a:p>
          <a:p>
            <a:pPr marL="0" indent="0">
              <a:buNone/>
            </a:pPr>
            <a:r>
              <a:rPr lang="en-US" dirty="0"/>
              <a:t>This is the MVP.</a:t>
            </a:r>
          </a:p>
          <a:p>
            <a:pPr marL="0" indent="0">
              <a:buNone/>
            </a:pPr>
            <a:r>
              <a:rPr lang="en-US" dirty="0"/>
              <a:t>Then present your findings to the class.</a:t>
            </a:r>
          </a:p>
        </p:txBody>
      </p:sp>
    </p:spTree>
    <p:extLst>
      <p:ext uri="{BB962C8B-B14F-4D97-AF65-F5344CB8AC3E}">
        <p14:creationId xmlns:p14="http://schemas.microsoft.com/office/powerpoint/2010/main" val="40543781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3F6F0-7A98-4469-185B-BDBE72E93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7D762-E061-383D-76CB-7AF3E469B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MVP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CC560-F7FA-066C-AE86-C8AEC49DA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Conclusion &amp; Next Steps</a:t>
            </a:r>
          </a:p>
          <a:p>
            <a:pPr marL="0" indent="0">
              <a:buNone/>
            </a:pPr>
            <a:r>
              <a:rPr lang="en-CA" b="1" dirty="0"/>
              <a:t>Your turn to create an MVP.</a:t>
            </a:r>
            <a:endParaRPr lang="en-CA" dirty="0"/>
          </a:p>
          <a:p>
            <a:pPr marL="0" indent="0">
              <a:buNone/>
            </a:pPr>
            <a:r>
              <a:rPr lang="en-US" dirty="0"/>
              <a:t>Web sites to consider:</a:t>
            </a:r>
          </a:p>
          <a:p>
            <a:pPr marL="0" indent="0">
              <a:buNone/>
            </a:pPr>
            <a:r>
              <a:rPr lang="en-US" dirty="0" err="1"/>
              <a:t>Youtube</a:t>
            </a:r>
            <a:r>
              <a:rPr lang="en-US" dirty="0"/>
              <a:t>, Amazon, Netflix, Facebook, </a:t>
            </a:r>
            <a:r>
              <a:rPr lang="en-US" dirty="0" err="1"/>
              <a:t>Humber.ca</a:t>
            </a:r>
            <a:r>
              <a:rPr lang="en-US" dirty="0"/>
              <a:t>, LinkedIn, Eventbrite</a:t>
            </a:r>
          </a:p>
        </p:txBody>
      </p:sp>
    </p:spTree>
    <p:extLst>
      <p:ext uri="{BB962C8B-B14F-4D97-AF65-F5344CB8AC3E}">
        <p14:creationId xmlns:p14="http://schemas.microsoft.com/office/powerpoint/2010/main" val="22099473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885B4-538D-2F7B-AA4B-73410C06F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84D65-4F6B-DEC2-BDF1-AA88025AE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MVP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DE58A-F26A-7DE8-44D0-D01E37EE6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 will now choose a large Web site and figure out the MVP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55F7964-D986-F46D-7722-8726B6A58A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638631"/>
              </p:ext>
            </p:extLst>
          </p:nvPr>
        </p:nvGraphicFramePr>
        <p:xfrm>
          <a:off x="864971" y="2382562"/>
          <a:ext cx="10377615" cy="3657600"/>
        </p:xfrm>
        <a:graphic>
          <a:graphicData uri="http://schemas.openxmlformats.org/drawingml/2006/table">
            <a:tbl>
              <a:tblPr/>
              <a:tblGrid>
                <a:gridCol w="3459205">
                  <a:extLst>
                    <a:ext uri="{9D8B030D-6E8A-4147-A177-3AD203B41FA5}">
                      <a16:colId xmlns:a16="http://schemas.microsoft.com/office/drawing/2014/main" val="3466105909"/>
                    </a:ext>
                  </a:extLst>
                </a:gridCol>
                <a:gridCol w="3459205">
                  <a:extLst>
                    <a:ext uri="{9D8B030D-6E8A-4147-A177-3AD203B41FA5}">
                      <a16:colId xmlns:a16="http://schemas.microsoft.com/office/drawing/2014/main" val="3950033106"/>
                    </a:ext>
                  </a:extLst>
                </a:gridCol>
                <a:gridCol w="3459205">
                  <a:extLst>
                    <a:ext uri="{9D8B030D-6E8A-4147-A177-3AD203B41FA5}">
                      <a16:colId xmlns:a16="http://schemas.microsoft.com/office/drawing/2014/main" val="1079651981"/>
                    </a:ext>
                  </a:extLst>
                </a:gridCol>
              </a:tblGrid>
              <a:tr h="37743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Question</a:t>
                      </a:r>
                      <a:endParaRPr lang="en-CA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If "Yes"</a:t>
                      </a:r>
                      <a:endParaRPr lang="en-CA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If "No"</a:t>
                      </a:r>
                      <a:endParaRPr lang="en-CA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1025262"/>
                  </a:ext>
                </a:extLst>
              </a:tr>
              <a:tr h="37743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Is this the Core Value Prop?</a:t>
                      </a:r>
                      <a:endParaRPr lang="en-CA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It’s likely part of the MVP.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It’s a "Nice-to-Have."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031233"/>
                  </a:ext>
                </a:extLst>
              </a:tr>
              <a:tr h="62007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Can the user finish a transaction without it?</a:t>
                      </a:r>
                      <a:endParaRPr lang="en-CA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It’s a candidate for Phase 2.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It stays in the MVP.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5020485"/>
                  </a:ext>
                </a:extLst>
              </a:tr>
              <a:tr h="62007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Does it require complex 3rd party integration?</a:t>
                      </a:r>
                      <a:endParaRPr lang="en-CA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Consider a manual workaround.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Keep it if it's simple.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6666742"/>
                  </a:ext>
                </a:extLst>
              </a:tr>
              <a:tr h="62007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Is it purely for "Trust" or "Social Proof"?</a:t>
                      </a:r>
                      <a:endParaRPr lang="en-CA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Launch without it and see if users care.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It’s likely an optimization, not a core.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2254833"/>
                  </a:ext>
                </a:extLst>
              </a:tr>
              <a:tr h="62007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Would the site break if this was a plain text link?</a:t>
                      </a:r>
                      <a:endParaRPr lang="en-CA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Then the UI/UX is currently over-engineered.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It’s a core functional element.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6122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3614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2482</TotalTime>
  <Words>1817</Words>
  <Application>Microsoft Macintosh PowerPoint</Application>
  <PresentationFormat>Widescreen</PresentationFormat>
  <Paragraphs>221</Paragraphs>
  <Slides>28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Aptos Display</vt:lpstr>
      <vt:lpstr>Arial</vt:lpstr>
      <vt:lpstr>Google Sans Text</vt:lpstr>
      <vt:lpstr>Office Theme</vt:lpstr>
      <vt:lpstr>What is an MVP</vt:lpstr>
      <vt:lpstr>What is an MVP</vt:lpstr>
      <vt:lpstr>What is an MVP</vt:lpstr>
      <vt:lpstr>What is an MVP</vt:lpstr>
      <vt:lpstr>What is an MVP</vt:lpstr>
      <vt:lpstr>What is an MVP</vt:lpstr>
      <vt:lpstr>What is an MVP</vt:lpstr>
      <vt:lpstr>What is an MVP</vt:lpstr>
      <vt:lpstr>What is an MVP</vt:lpstr>
      <vt:lpstr>What is an MVP</vt:lpstr>
      <vt:lpstr>What is an MVP</vt:lpstr>
      <vt:lpstr>What is an MVP</vt:lpstr>
      <vt:lpstr>What is an MVP</vt:lpstr>
      <vt:lpstr>What is an MVP</vt:lpstr>
      <vt:lpstr>What is an MVP</vt:lpstr>
      <vt:lpstr>What is an MVP</vt:lpstr>
      <vt:lpstr>What is an MVP</vt:lpstr>
      <vt:lpstr>What is an MVP</vt:lpstr>
      <vt:lpstr>What is an MVP</vt:lpstr>
      <vt:lpstr>What is an MVP</vt:lpstr>
      <vt:lpstr>What is an MVP</vt:lpstr>
      <vt:lpstr>What is an MVP</vt:lpstr>
      <vt:lpstr>What is an MVP</vt:lpstr>
      <vt:lpstr>What is an MVP</vt:lpstr>
      <vt:lpstr>What is an MVP</vt:lpstr>
      <vt:lpstr>What is an MVP</vt:lpstr>
      <vt:lpstr>What is an MVP</vt:lpstr>
      <vt:lpstr>What is an MVP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Bernie Monette</dc:creator>
  <cp:lastModifiedBy>Bernie Monette</cp:lastModifiedBy>
  <cp:revision>37</cp:revision>
  <dcterms:created xsi:type="dcterms:W3CDTF">2026-02-04T02:12:39Z</dcterms:created>
  <dcterms:modified xsi:type="dcterms:W3CDTF">2026-02-05T19:35:05Z</dcterms:modified>
</cp:coreProperties>
</file>