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jJJkgYfoYYp0QBtG6kuRT2ZlFc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3CA182-6C86-4926-9E63-D3446429D139}">
  <a:tblStyle styleId="{533CA182-6C86-4926-9E63-D3446429D13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8800bd03c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8800bd03c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support.microsoft.com/en-gb/office/database-design-basics-eb2159cf-1e30-401a-8084-bd4f9c9ca1f5#:~:text=Top%20of%20Page-,The%20design%20process,-The%20design%20process" TargetMode="External"/><Relationship Id="rId4" Type="http://schemas.openxmlformats.org/officeDocument/2006/relationships/hyperlink" Target="https://support.microsoft.com/en-gb/office/database-design-basics-eb2159cf-1e30-401a-8084-bd4f9c9ca1f5#:~:text=Top%20of%20Page-,The%20design%20process,-The%20design%20proces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support.microsoft.com/en-gb/office/database-design-basics-eb2159cf-1e30-401a-8084-bd4f9c9ca1f5#:~:text=Top%20of%20Page-,The%20design%20process,-The%20design%20process" TargetMode="External"/><Relationship Id="rId4" Type="http://schemas.openxmlformats.org/officeDocument/2006/relationships/hyperlink" Target="https://support.microsoft.com/en-gb/office/database-design-basics-eb2159cf-1e30-401a-8084-bd4f9c9ca1f5#:~:text=Top%20of%20Page-,The%20design%20process,-The%20design%20proces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support.microsoft.com/en-gb/office/database-design-basics-eb2159cf-1e30-401a-8084-bd4f9c9ca1f5#:~:text=Top%20of%20Page-,The%20design%20process,-The%20design%20process" TargetMode="External"/><Relationship Id="rId4" Type="http://schemas.openxmlformats.org/officeDocument/2006/relationships/hyperlink" Target="https://support.microsoft.com/en-gb/office/database-design-basics-eb2159cf-1e30-401a-8084-bd4f9c9ca1f5#:~:text=Top%20of%20Page-,The%20design%20process,-The%20design%20proces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support.microsoft.com/en-gb/office/database-design-basics-eb2159cf-1e30-401a-8084-bd4f9c9ca1f5#:~:text=Top%20of%20Page-,The%20design%20process,-The%20design%20process" TargetMode="External"/><Relationship Id="rId4" Type="http://schemas.openxmlformats.org/officeDocument/2006/relationships/hyperlink" Target="https://support.microsoft.com/en-gb/office/database-design-basics-eb2159cf-1e30-401a-8084-bd4f9c9ca1f5#:~:text=Top%20of%20Page-,The%20design%20process,-The%20design%20proces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support.microsoft.com/en-gb/office/database-design-basics-eb2159cf-1e30-401a-8084-bd4f9c9ca1f5#:~:text=Top%20of%20Page-,The%20design%20process,-The%20design%20process" TargetMode="External"/><Relationship Id="rId4" Type="http://schemas.openxmlformats.org/officeDocument/2006/relationships/hyperlink" Target="https://support.microsoft.com/en-gb/office/database-design-basics-eb2159cf-1e30-401a-8084-bd4f9c9ca1f5#:~:text=Top%20of%20Page-,The%20design%20process,-The%20design%20proces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www.w3schools.com/sql/sql_datatypes.asp#:~:text=MySQL%20Data%20Types%20(Version%208.0)" TargetMode="External"/><Relationship Id="rId4" Type="http://schemas.openxmlformats.org/officeDocument/2006/relationships/hyperlink" Target="https://www.w3schools.com/sql/sql_datatypes.asp#:~:text=MySQL%20Data%20Types%20(Version%208.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www.w3schools.com/sql/sql_datatypes.asp#:~:text=MySQL%20Data%20Types%20(Version%208.0)" TargetMode="External"/><Relationship Id="rId4" Type="http://schemas.openxmlformats.org/officeDocument/2006/relationships/hyperlink" Target="https://www.w3schools.com/sql/sql_datatypes.asp#:~:text=MySQL%20Data%20Types%20(Version%208.0)" TargetMode="External"/><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w3schools.com/sql/sql_datatypes.asp#:~:text=MySQL%20Data%20Types%20(Version%208.0)" TargetMode="External"/><Relationship Id="rId4" Type="http://schemas.openxmlformats.org/officeDocument/2006/relationships/hyperlink" Target="https://www.w3schools.com/sql/sql_datatypes.asp#:~:text=MySQL%20Data%20Types%20(Version%208.0)"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www.w3schools.com/sql/sql_datatypes.asp#:~:text=MySQL%20Data%20Types%20(Version%208.0)" TargetMode="External"/><Relationship Id="rId4" Type="http://schemas.openxmlformats.org/officeDocument/2006/relationships/hyperlink" Target="https://www.w3schools.com/sql/sql_datatypes.asp#:~:text=MySQL%20Data%20Types%20(Version%208.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b="1" lang="en"/>
              <a:t>Week 6</a:t>
            </a:r>
            <a:endParaRPr b="1"/>
          </a:p>
        </p:txBody>
      </p:sp>
      <p:sp>
        <p:nvSpPr>
          <p:cNvPr id="55" name="Google Shape;55;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
              <a:t>Database Design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 name="Shape 59"/>
        <p:cNvGrpSpPr/>
        <p:nvPr/>
      </p:nvGrpSpPr>
      <p:grpSpPr>
        <a:xfrm>
          <a:off x="0" y="0"/>
          <a:ext cx="0" cy="0"/>
          <a:chOff x="0" y="0"/>
          <a:chExt cx="0" cy="0"/>
        </a:xfrm>
      </p:grpSpPr>
      <p:sp>
        <p:nvSpPr>
          <p:cNvPr id="60" name="Google Shape;60;p2"/>
          <p:cNvSpPr txBox="1"/>
          <p:nvPr/>
        </p:nvSpPr>
        <p:spPr>
          <a:xfrm>
            <a:off x="311700" y="1017725"/>
            <a:ext cx="8520600" cy="20994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rgbClr val="000000"/>
              </a:buClr>
              <a:buSzPts val="1800"/>
              <a:buFont typeface="Arial"/>
              <a:buChar char="●"/>
            </a:pPr>
            <a:r>
              <a:rPr b="1" i="0" lang="en" sz="1800" u="none" cap="none" strike="noStrike">
                <a:solidFill>
                  <a:srgbClr val="000000"/>
                </a:solidFill>
                <a:latin typeface="Arial"/>
                <a:ea typeface="Arial"/>
                <a:cs typeface="Arial"/>
                <a:sym typeface="Arial"/>
              </a:rPr>
              <a:t>Database (DB): </a:t>
            </a:r>
            <a:r>
              <a:rPr b="0" i="0" lang="en" sz="1800" u="none" cap="none" strike="noStrike">
                <a:solidFill>
                  <a:srgbClr val="000000"/>
                </a:solidFill>
                <a:latin typeface="Arial"/>
                <a:ea typeface="Arial"/>
                <a:cs typeface="Arial"/>
                <a:sym typeface="Arial"/>
              </a:rPr>
              <a:t>Organized collection of data</a:t>
            </a:r>
            <a:endParaRPr b="0" i="0" sz="1800" u="none" cap="none" strike="noStrike">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Clr>
                <a:srgbClr val="595959"/>
              </a:buClr>
              <a:buSzPts val="1400"/>
              <a:buFont typeface="Arial"/>
              <a:buChar char="○"/>
            </a:pPr>
            <a:r>
              <a:rPr b="0" i="0" lang="en" sz="1400" u="none" cap="none" strike="noStrike">
                <a:solidFill>
                  <a:srgbClr val="000000"/>
                </a:solidFill>
                <a:latin typeface="Arial"/>
                <a:ea typeface="Arial"/>
                <a:cs typeface="Arial"/>
                <a:sym typeface="Arial"/>
              </a:rPr>
              <a:t>Data can be structured or unstructured, depending on the DB type</a:t>
            </a:r>
            <a:endParaRPr b="0" i="0" sz="1400" u="none" cap="none" strike="noStrike">
              <a:solidFill>
                <a:srgbClr val="000000"/>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Char char="●"/>
            </a:pPr>
            <a:r>
              <a:rPr b="1" i="0" lang="en" sz="1800" u="none" cap="none" strike="noStrike">
                <a:solidFill>
                  <a:srgbClr val="000000"/>
                </a:solidFill>
                <a:latin typeface="Arial"/>
                <a:ea typeface="Arial"/>
                <a:cs typeface="Arial"/>
                <a:sym typeface="Arial"/>
              </a:rPr>
              <a:t>Relational DB: </a:t>
            </a:r>
            <a:r>
              <a:rPr b="0" i="0" lang="en" sz="1800" u="none" cap="none" strike="noStrike">
                <a:solidFill>
                  <a:srgbClr val="000000"/>
                </a:solidFill>
                <a:latin typeface="Arial"/>
                <a:ea typeface="Arial"/>
                <a:cs typeface="Arial"/>
                <a:sym typeface="Arial"/>
              </a:rPr>
              <a:t>DB one or more tables that are related through shared fields</a:t>
            </a:r>
            <a:endParaRPr b="0" i="0" sz="1800" u="none" cap="none" strike="noStrike">
              <a:solidFill>
                <a:srgbClr val="000000"/>
              </a:solidFill>
              <a:latin typeface="Arial"/>
              <a:ea typeface="Arial"/>
              <a:cs typeface="Arial"/>
              <a:sym typeface="Arial"/>
            </a:endParaRPr>
          </a:p>
          <a:p>
            <a:pPr indent="-342900" lvl="0" marL="457200" marR="0" rtl="0" algn="l">
              <a:lnSpc>
                <a:spcPct val="115000"/>
              </a:lnSpc>
              <a:spcBef>
                <a:spcPts val="0"/>
              </a:spcBef>
              <a:spcAft>
                <a:spcPts val="0"/>
              </a:spcAft>
              <a:buClr>
                <a:srgbClr val="000000"/>
              </a:buClr>
              <a:buSzPts val="1800"/>
              <a:buFont typeface="Arial"/>
              <a:buChar char="●"/>
            </a:pPr>
            <a:r>
              <a:rPr b="1" i="0" lang="en" sz="1800" u="none" cap="none" strike="noStrike">
                <a:solidFill>
                  <a:srgbClr val="000000"/>
                </a:solidFill>
                <a:latin typeface="Arial"/>
                <a:ea typeface="Arial"/>
                <a:cs typeface="Arial"/>
                <a:sym typeface="Arial"/>
              </a:rPr>
              <a:t>Tables: </a:t>
            </a:r>
            <a:r>
              <a:rPr b="0" i="0" lang="en" sz="1800" u="none" cap="none" strike="noStrike">
                <a:solidFill>
                  <a:srgbClr val="000000"/>
                </a:solidFill>
                <a:latin typeface="Arial"/>
                <a:ea typeface="Arial"/>
                <a:cs typeface="Arial"/>
                <a:sym typeface="Arial"/>
              </a:rPr>
              <a:t>Data stored in columns and rows</a:t>
            </a:r>
            <a:endParaRPr b="0" i="0" sz="1800" u="none" cap="none" strike="noStrike">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Clr>
                <a:srgbClr val="000000"/>
              </a:buClr>
              <a:buSzPts val="1400"/>
              <a:buFont typeface="Arial"/>
              <a:buChar char="○"/>
            </a:pPr>
            <a:r>
              <a:rPr b="1" i="0" lang="en" sz="1400" u="none" cap="none" strike="noStrike">
                <a:solidFill>
                  <a:srgbClr val="000000"/>
                </a:solidFill>
                <a:latin typeface="Arial"/>
                <a:ea typeface="Arial"/>
                <a:cs typeface="Arial"/>
                <a:sym typeface="Arial"/>
              </a:rPr>
              <a:t>Tables</a:t>
            </a:r>
            <a:r>
              <a:rPr b="0" i="0" lang="en" sz="1400" u="none" cap="none" strike="noStrike">
                <a:solidFill>
                  <a:srgbClr val="000000"/>
                </a:solidFill>
                <a:latin typeface="Arial"/>
                <a:ea typeface="Arial"/>
                <a:cs typeface="Arial"/>
                <a:sym typeface="Arial"/>
              </a:rPr>
              <a:t> represent an </a:t>
            </a:r>
            <a:r>
              <a:rPr b="1" i="0" lang="en" sz="1400" u="none" cap="none" strike="noStrike">
                <a:solidFill>
                  <a:srgbClr val="000000"/>
                </a:solidFill>
                <a:latin typeface="Arial"/>
                <a:ea typeface="Arial"/>
                <a:cs typeface="Arial"/>
                <a:sym typeface="Arial"/>
              </a:rPr>
              <a:t>entity</a:t>
            </a:r>
            <a:endParaRPr b="1" i="0" sz="1400" u="none" cap="none" strike="noStrike">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Clr>
                <a:srgbClr val="000000"/>
              </a:buClr>
              <a:buSzPts val="1400"/>
              <a:buFont typeface="Arial"/>
              <a:buChar char="○"/>
            </a:pPr>
            <a:r>
              <a:rPr b="1" i="0" lang="en" sz="1400" u="none" cap="none" strike="noStrike">
                <a:solidFill>
                  <a:srgbClr val="000000"/>
                </a:solidFill>
                <a:latin typeface="Arial"/>
                <a:ea typeface="Arial"/>
                <a:cs typeface="Arial"/>
                <a:sym typeface="Arial"/>
              </a:rPr>
              <a:t>Rows: </a:t>
            </a:r>
            <a:r>
              <a:rPr b="0" i="0" lang="en" sz="1400" u="none" cap="none" strike="noStrike">
                <a:solidFill>
                  <a:srgbClr val="000000"/>
                </a:solidFill>
                <a:latin typeface="Arial"/>
                <a:ea typeface="Arial"/>
                <a:cs typeface="Arial"/>
                <a:sym typeface="Arial"/>
              </a:rPr>
              <a:t>Each row of a table represents a single </a:t>
            </a:r>
            <a:r>
              <a:rPr b="0" i="1" lang="en" sz="1400" u="none" cap="none" strike="noStrike">
                <a:solidFill>
                  <a:srgbClr val="000000"/>
                </a:solidFill>
                <a:latin typeface="Arial"/>
                <a:ea typeface="Arial"/>
                <a:cs typeface="Arial"/>
                <a:sym typeface="Arial"/>
              </a:rPr>
              <a:t>record</a:t>
            </a:r>
            <a:r>
              <a:rPr b="0" i="0" lang="en" sz="1400" u="none" cap="none" strike="noStrike">
                <a:solidFill>
                  <a:srgbClr val="000000"/>
                </a:solidFill>
                <a:latin typeface="Arial"/>
                <a:ea typeface="Arial"/>
                <a:cs typeface="Arial"/>
                <a:sym typeface="Arial"/>
              </a:rPr>
              <a:t> of that entity</a:t>
            </a:r>
            <a:endParaRPr b="0" i="0" sz="1400" u="none" cap="none" strike="noStrike">
              <a:solidFill>
                <a:srgbClr val="000000"/>
              </a:solidFill>
              <a:latin typeface="Arial"/>
              <a:ea typeface="Arial"/>
              <a:cs typeface="Arial"/>
              <a:sym typeface="Arial"/>
            </a:endParaRPr>
          </a:p>
          <a:p>
            <a:pPr indent="-317500" lvl="1" marL="914400" marR="0" rtl="0" algn="l">
              <a:lnSpc>
                <a:spcPct val="115000"/>
              </a:lnSpc>
              <a:spcBef>
                <a:spcPts val="0"/>
              </a:spcBef>
              <a:spcAft>
                <a:spcPts val="0"/>
              </a:spcAft>
              <a:buClr>
                <a:srgbClr val="595959"/>
              </a:buClr>
              <a:buSzPts val="1400"/>
              <a:buFont typeface="Arial"/>
              <a:buChar char="○"/>
            </a:pPr>
            <a:r>
              <a:rPr b="1" i="0" lang="en" sz="1400" u="none" cap="none" strike="noStrike">
                <a:solidFill>
                  <a:schemeClr val="dk1"/>
                </a:solidFill>
                <a:latin typeface="Arial"/>
                <a:ea typeface="Arial"/>
                <a:cs typeface="Arial"/>
                <a:sym typeface="Arial"/>
              </a:rPr>
              <a:t>Columns:</a:t>
            </a:r>
            <a:r>
              <a:rPr b="0" i="0" lang="en" sz="1400" u="none" cap="none" strike="noStrike">
                <a:solidFill>
                  <a:schemeClr val="dk1"/>
                </a:solidFill>
                <a:latin typeface="Arial"/>
                <a:ea typeface="Arial"/>
                <a:cs typeface="Arial"/>
                <a:sym typeface="Arial"/>
              </a:rPr>
              <a:t> Each column represents a single </a:t>
            </a:r>
            <a:r>
              <a:rPr b="0" i="1" lang="en" sz="1400" u="none" cap="none" strike="noStrike">
                <a:solidFill>
                  <a:schemeClr val="dk1"/>
                </a:solidFill>
                <a:latin typeface="Arial"/>
                <a:ea typeface="Arial"/>
                <a:cs typeface="Arial"/>
                <a:sym typeface="Arial"/>
              </a:rPr>
              <a:t>field</a:t>
            </a:r>
            <a:r>
              <a:rPr b="0" i="0" lang="en" sz="1400" u="none" cap="none" strike="noStrike">
                <a:solidFill>
                  <a:schemeClr val="dk1"/>
                </a:solidFill>
                <a:latin typeface="Arial"/>
                <a:ea typeface="Arial"/>
                <a:cs typeface="Arial"/>
                <a:sym typeface="Arial"/>
              </a:rPr>
              <a:t> of that entity</a:t>
            </a:r>
            <a:endParaRPr b="0" i="0" sz="1400" u="none" cap="none" strike="noStrike">
              <a:solidFill>
                <a:srgbClr val="000000"/>
              </a:solidFill>
              <a:latin typeface="Arial"/>
              <a:ea typeface="Arial"/>
              <a:cs typeface="Arial"/>
              <a:sym typeface="Arial"/>
            </a:endParaRPr>
          </a:p>
        </p:txBody>
      </p:sp>
      <p:sp>
        <p:nvSpPr>
          <p:cNvPr id="61" name="Google Shape;61;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Fundamentals</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The Design Process</a:t>
            </a:r>
            <a:r>
              <a:rPr b="1" baseline="30000" lang="en" u="sng">
                <a:solidFill>
                  <a:schemeClr val="hlink"/>
                </a:solidFill>
                <a:hlinkClick r:id="rId3"/>
              </a:rPr>
              <a:t>1</a:t>
            </a:r>
            <a:endParaRPr b="1"/>
          </a:p>
        </p:txBody>
      </p:sp>
      <p:sp>
        <p:nvSpPr>
          <p:cNvPr id="67" name="Google Shape;67;p3"/>
          <p:cNvSpPr txBox="1"/>
          <p:nvPr>
            <p:ph idx="1" type="body"/>
          </p:nvPr>
        </p:nvSpPr>
        <p:spPr>
          <a:xfrm>
            <a:off x="311700" y="1017725"/>
            <a:ext cx="8520600" cy="41259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Clr>
                <a:schemeClr val="dk1"/>
              </a:buClr>
              <a:buSzPts val="1800"/>
              <a:buAutoNum type="arabicPeriod"/>
            </a:pPr>
            <a:r>
              <a:rPr b="1" lang="en">
                <a:solidFill>
                  <a:schemeClr val="dk1"/>
                </a:solidFill>
              </a:rPr>
              <a:t>Determine the purpose of your database</a:t>
            </a:r>
            <a:endParaRPr b="1">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What is the high level purpose of this database?</a:t>
            </a:r>
            <a:endParaRPr>
              <a:solidFill>
                <a:schemeClr val="dk1"/>
              </a:solidFill>
            </a:endParaRPr>
          </a:p>
          <a:p>
            <a:pPr indent="-342900" lvl="0" marL="457200" rtl="0" algn="l">
              <a:lnSpc>
                <a:spcPct val="115000"/>
              </a:lnSpc>
              <a:spcBef>
                <a:spcPts val="0"/>
              </a:spcBef>
              <a:spcAft>
                <a:spcPts val="0"/>
              </a:spcAft>
              <a:buClr>
                <a:schemeClr val="dk1"/>
              </a:buClr>
              <a:buSzPts val="1800"/>
              <a:buAutoNum type="arabicPeriod"/>
            </a:pPr>
            <a:r>
              <a:rPr b="1" lang="en">
                <a:solidFill>
                  <a:schemeClr val="dk1"/>
                </a:solidFill>
              </a:rPr>
              <a:t>Find and organize the information required</a:t>
            </a:r>
            <a:endParaRPr b="1">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What information should be stored to fulfill the high level purpose?</a:t>
            </a:r>
            <a:endParaRPr>
              <a:solidFill>
                <a:schemeClr val="dk1"/>
              </a:solidFill>
            </a:endParaRPr>
          </a:p>
          <a:p>
            <a:pPr indent="-342900" lvl="0" marL="457200" rtl="0" algn="l">
              <a:lnSpc>
                <a:spcPct val="115000"/>
              </a:lnSpc>
              <a:spcBef>
                <a:spcPts val="0"/>
              </a:spcBef>
              <a:spcAft>
                <a:spcPts val="0"/>
              </a:spcAft>
              <a:buClr>
                <a:schemeClr val="dk1"/>
              </a:buClr>
              <a:buSzPts val="1800"/>
              <a:buAutoNum type="arabicPeriod"/>
            </a:pPr>
            <a:r>
              <a:rPr b="1" lang="en">
                <a:solidFill>
                  <a:schemeClr val="dk1"/>
                </a:solidFill>
              </a:rPr>
              <a:t>Divide the information into tables</a:t>
            </a:r>
            <a:endParaRPr b="1">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What are the entities to store?</a:t>
            </a:r>
            <a:endParaRPr>
              <a:solidFill>
                <a:schemeClr val="dk1"/>
              </a:solidFill>
            </a:endParaRPr>
          </a:p>
          <a:p>
            <a:pPr indent="-342900" lvl="0" marL="457200" rtl="0" algn="l">
              <a:lnSpc>
                <a:spcPct val="115000"/>
              </a:lnSpc>
              <a:spcBef>
                <a:spcPts val="0"/>
              </a:spcBef>
              <a:spcAft>
                <a:spcPts val="0"/>
              </a:spcAft>
              <a:buClr>
                <a:schemeClr val="dk1"/>
              </a:buClr>
              <a:buSzPts val="1800"/>
              <a:buAutoNum type="arabicPeriod"/>
            </a:pPr>
            <a:r>
              <a:rPr b="1" lang="en">
                <a:solidFill>
                  <a:schemeClr val="dk1"/>
                </a:solidFill>
              </a:rPr>
              <a:t>Turn information items into columns</a:t>
            </a:r>
            <a:endParaRPr b="1">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What are the individual data pieces that make up those entities (tables)?</a:t>
            </a:r>
            <a:endParaRPr>
              <a:solidFill>
                <a:schemeClr val="dk1"/>
              </a:solidFill>
            </a:endParaRPr>
          </a:p>
          <a:p>
            <a:pPr indent="-342900" lvl="0" marL="457200" rtl="0" algn="l">
              <a:lnSpc>
                <a:spcPct val="115000"/>
              </a:lnSpc>
              <a:spcBef>
                <a:spcPts val="0"/>
              </a:spcBef>
              <a:spcAft>
                <a:spcPts val="0"/>
              </a:spcAft>
              <a:buClr>
                <a:srgbClr val="999999"/>
              </a:buClr>
              <a:buSzPts val="1800"/>
              <a:buAutoNum type="arabicPeriod"/>
            </a:pPr>
            <a:r>
              <a:rPr b="1" lang="en">
                <a:solidFill>
                  <a:srgbClr val="999999"/>
                </a:solidFill>
              </a:rPr>
              <a:t>Specify primary keys*</a:t>
            </a:r>
            <a:endParaRPr b="1">
              <a:solidFill>
                <a:srgbClr val="999999"/>
              </a:solidFill>
            </a:endParaRPr>
          </a:p>
          <a:p>
            <a:pPr indent="-317500" lvl="1" marL="914400" rtl="0" algn="l">
              <a:lnSpc>
                <a:spcPct val="115000"/>
              </a:lnSpc>
              <a:spcBef>
                <a:spcPts val="0"/>
              </a:spcBef>
              <a:spcAft>
                <a:spcPts val="0"/>
              </a:spcAft>
              <a:buClr>
                <a:srgbClr val="999999"/>
              </a:buClr>
              <a:buSzPts val="1400"/>
              <a:buChar char="○"/>
            </a:pPr>
            <a:r>
              <a:rPr lang="en">
                <a:solidFill>
                  <a:srgbClr val="999999"/>
                </a:solidFill>
              </a:rPr>
              <a:t>What is the unique field (column) for each entity (table)?</a:t>
            </a:r>
            <a:endParaRPr>
              <a:solidFill>
                <a:srgbClr val="999999"/>
              </a:solidFill>
            </a:endParaRPr>
          </a:p>
          <a:p>
            <a:pPr indent="-342900" lvl="0" marL="457200" rtl="0" algn="l">
              <a:lnSpc>
                <a:spcPct val="115000"/>
              </a:lnSpc>
              <a:spcBef>
                <a:spcPts val="0"/>
              </a:spcBef>
              <a:spcAft>
                <a:spcPts val="0"/>
              </a:spcAft>
              <a:buClr>
                <a:srgbClr val="999999"/>
              </a:buClr>
              <a:buSzPts val="1800"/>
              <a:buAutoNum type="arabicPeriod"/>
            </a:pPr>
            <a:r>
              <a:rPr b="1" lang="en">
                <a:solidFill>
                  <a:srgbClr val="999999"/>
                </a:solidFill>
              </a:rPr>
              <a:t>Set up the table relationships*</a:t>
            </a:r>
            <a:endParaRPr b="1">
              <a:solidFill>
                <a:srgbClr val="999999"/>
              </a:solidFill>
            </a:endParaRPr>
          </a:p>
          <a:p>
            <a:pPr indent="-317500" lvl="1" marL="914400" rtl="0" algn="l">
              <a:lnSpc>
                <a:spcPct val="115000"/>
              </a:lnSpc>
              <a:spcBef>
                <a:spcPts val="0"/>
              </a:spcBef>
              <a:spcAft>
                <a:spcPts val="0"/>
              </a:spcAft>
              <a:buClr>
                <a:srgbClr val="999999"/>
              </a:buClr>
              <a:buSzPts val="1400"/>
              <a:buChar char="○"/>
            </a:pPr>
            <a:r>
              <a:rPr lang="en">
                <a:solidFill>
                  <a:srgbClr val="999999"/>
                </a:solidFill>
              </a:rPr>
              <a:t>Do these tables relate? If so what is the connection?</a:t>
            </a:r>
            <a:endParaRPr>
              <a:solidFill>
                <a:srgbClr val="999999"/>
              </a:solidFill>
            </a:endParaRPr>
          </a:p>
          <a:p>
            <a:pPr indent="-342900" lvl="0" marL="457200" rtl="0" algn="l">
              <a:lnSpc>
                <a:spcPct val="115000"/>
              </a:lnSpc>
              <a:spcBef>
                <a:spcPts val="0"/>
              </a:spcBef>
              <a:spcAft>
                <a:spcPts val="0"/>
              </a:spcAft>
              <a:buClr>
                <a:srgbClr val="999999"/>
              </a:buClr>
              <a:buSzPts val="1800"/>
              <a:buAutoNum type="arabicPeriod"/>
            </a:pPr>
            <a:r>
              <a:rPr b="1" lang="en">
                <a:solidFill>
                  <a:srgbClr val="999999"/>
                </a:solidFill>
              </a:rPr>
              <a:t>Refine your design*</a:t>
            </a:r>
            <a:endParaRPr b="1">
              <a:solidFill>
                <a:srgbClr val="999999"/>
              </a:solidFill>
            </a:endParaRPr>
          </a:p>
          <a:p>
            <a:pPr indent="-317500" lvl="1" marL="914400" rtl="0" algn="l">
              <a:lnSpc>
                <a:spcPct val="115000"/>
              </a:lnSpc>
              <a:spcBef>
                <a:spcPts val="0"/>
              </a:spcBef>
              <a:spcAft>
                <a:spcPts val="0"/>
              </a:spcAft>
              <a:buClr>
                <a:srgbClr val="999999"/>
              </a:buClr>
              <a:buSzPts val="1400"/>
              <a:buChar char="○"/>
            </a:pPr>
            <a:r>
              <a:rPr lang="en">
                <a:solidFill>
                  <a:srgbClr val="999999"/>
                </a:solidFill>
              </a:rPr>
              <a:t>Look for errors to inform improvements. </a:t>
            </a:r>
            <a:endParaRPr>
              <a:solidFill>
                <a:srgbClr val="999999"/>
              </a:solidFill>
            </a:endParaRPr>
          </a:p>
          <a:p>
            <a:pPr indent="-342900" lvl="0" marL="457200" rtl="0" algn="l">
              <a:lnSpc>
                <a:spcPct val="115000"/>
              </a:lnSpc>
              <a:spcBef>
                <a:spcPts val="0"/>
              </a:spcBef>
              <a:spcAft>
                <a:spcPts val="0"/>
              </a:spcAft>
              <a:buClr>
                <a:srgbClr val="999999"/>
              </a:buClr>
              <a:buSzPts val="1800"/>
              <a:buAutoNum type="arabicPeriod"/>
            </a:pPr>
            <a:r>
              <a:rPr b="1" lang="en">
                <a:solidFill>
                  <a:srgbClr val="999999"/>
                </a:solidFill>
              </a:rPr>
              <a:t>Apply the normalization rules*</a:t>
            </a:r>
            <a:endParaRPr b="1">
              <a:solidFill>
                <a:srgbClr val="999999"/>
              </a:solidFill>
            </a:endParaRPr>
          </a:p>
          <a:p>
            <a:pPr indent="-317500" lvl="1" marL="914400" rtl="0" algn="l">
              <a:lnSpc>
                <a:spcPct val="115000"/>
              </a:lnSpc>
              <a:spcBef>
                <a:spcPts val="0"/>
              </a:spcBef>
              <a:spcAft>
                <a:spcPts val="0"/>
              </a:spcAft>
              <a:buClr>
                <a:srgbClr val="999999"/>
              </a:buClr>
              <a:buSzPts val="1400"/>
              <a:buChar char="○"/>
            </a:pPr>
            <a:r>
              <a:rPr lang="en">
                <a:solidFill>
                  <a:srgbClr val="999999"/>
                </a:solidFill>
              </a:rPr>
              <a:t>Review normalization rules and adjust as necessary.</a:t>
            </a:r>
            <a:endParaRPr>
              <a:solidFill>
                <a:srgbClr val="999999"/>
              </a:solidFill>
            </a:endParaRPr>
          </a:p>
        </p:txBody>
      </p:sp>
      <p:sp>
        <p:nvSpPr>
          <p:cNvPr id="68" name="Google Shape;68;p3"/>
          <p:cNvSpPr txBox="1"/>
          <p:nvPr/>
        </p:nvSpPr>
        <p:spPr>
          <a:xfrm>
            <a:off x="0" y="4835700"/>
            <a:ext cx="9144000" cy="307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0" baseline="30000" i="0" lang="en" sz="800" u="none" cap="none" strike="noStrike">
                <a:solidFill>
                  <a:srgbClr val="000000"/>
                </a:solidFill>
                <a:latin typeface="Arial"/>
                <a:ea typeface="Arial"/>
                <a:cs typeface="Arial"/>
                <a:sym typeface="Arial"/>
              </a:rPr>
              <a:t>1</a:t>
            </a:r>
            <a:r>
              <a:rPr b="0" i="0" lang="en" sz="800" u="none" cap="none" strike="noStrike">
                <a:solidFill>
                  <a:srgbClr val="000000"/>
                </a:solidFill>
                <a:latin typeface="Arial"/>
                <a:ea typeface="Arial"/>
                <a:cs typeface="Arial"/>
                <a:sym typeface="Arial"/>
              </a:rPr>
              <a:t> </a:t>
            </a:r>
            <a:r>
              <a:rPr b="0" i="0" lang="en" sz="800" u="sng" cap="none" strike="noStrike">
                <a:solidFill>
                  <a:schemeClr val="hlink"/>
                </a:solidFill>
                <a:latin typeface="Arial"/>
                <a:ea typeface="Arial"/>
                <a:cs typeface="Arial"/>
                <a:sym typeface="Arial"/>
                <a:hlinkClick r:id="rId4"/>
              </a:rPr>
              <a:t>Microsoft - DB Design Basics - The design process</a:t>
            </a:r>
            <a:endParaRPr b="0" i="0" sz="800" u="none" cap="none" strike="noStrike">
              <a:solidFill>
                <a:srgbClr val="000000"/>
              </a:solidFill>
              <a:latin typeface="Arial"/>
              <a:ea typeface="Arial"/>
              <a:cs typeface="Arial"/>
              <a:sym typeface="Arial"/>
            </a:endParaRPr>
          </a:p>
        </p:txBody>
      </p:sp>
      <p:sp>
        <p:nvSpPr>
          <p:cNvPr id="69" name="Google Shape;69;p3"/>
          <p:cNvSpPr txBox="1"/>
          <p:nvPr/>
        </p:nvSpPr>
        <p:spPr>
          <a:xfrm>
            <a:off x="-39573" y="-28432"/>
            <a:ext cx="3000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1" lang="en" sz="1000" u="none" cap="none" strike="noStrike">
                <a:solidFill>
                  <a:schemeClr val="dk1"/>
                </a:solidFill>
                <a:latin typeface="Arial"/>
                <a:ea typeface="Arial"/>
                <a:cs typeface="Arial"/>
                <a:sym typeface="Arial"/>
              </a:rPr>
              <a:t>*Week 7</a:t>
            </a:r>
            <a:endParaRPr b="0" i="1" sz="10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The Design Process: Strategize w/ Documents</a:t>
            </a:r>
            <a:endParaRPr b="1"/>
          </a:p>
        </p:txBody>
      </p:sp>
      <p:sp>
        <p:nvSpPr>
          <p:cNvPr id="75" name="Google Shape;75;p4"/>
          <p:cNvSpPr txBox="1"/>
          <p:nvPr>
            <p:ph idx="1" type="body"/>
          </p:nvPr>
        </p:nvSpPr>
        <p:spPr>
          <a:xfrm>
            <a:off x="311700" y="1017725"/>
            <a:ext cx="8520600" cy="2559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lang="en">
                <a:solidFill>
                  <a:schemeClr val="dk1"/>
                </a:solidFill>
              </a:rPr>
              <a:t>We can use pen &amp; paper, docs, or diagrams to plan our database before implementing it</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The result from this planning is a database </a:t>
            </a:r>
            <a:r>
              <a:rPr b="1" lang="en">
                <a:solidFill>
                  <a:schemeClr val="dk1"/>
                </a:solidFill>
              </a:rPr>
              <a:t>Schema</a:t>
            </a:r>
            <a:endParaRPr b="1">
              <a:solidFill>
                <a:schemeClr val="dk1"/>
              </a:solidFill>
            </a:endParaRPr>
          </a:p>
          <a:p>
            <a:pPr indent="-342900" lvl="0" marL="457200" rtl="0" algn="l">
              <a:lnSpc>
                <a:spcPct val="115000"/>
              </a:lnSpc>
              <a:spcBef>
                <a:spcPts val="0"/>
              </a:spcBef>
              <a:spcAft>
                <a:spcPts val="0"/>
              </a:spcAft>
              <a:buClr>
                <a:schemeClr val="dk1"/>
              </a:buClr>
              <a:buSzPts val="1800"/>
              <a:buChar char="●"/>
            </a:pPr>
            <a:r>
              <a:rPr b="1" lang="en">
                <a:solidFill>
                  <a:schemeClr val="dk1"/>
                </a:solidFill>
              </a:rPr>
              <a:t>Schema:</a:t>
            </a:r>
            <a:r>
              <a:rPr lang="en">
                <a:solidFill>
                  <a:schemeClr val="dk1"/>
                </a:solidFill>
              </a:rPr>
              <a:t> Defines the structure and organization of your database</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Includes logical constraints such as table names, fields, data types, keys, etc.</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The schema does not contain any data, it is simply a blueprint </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Should document the process step by step</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Example:</a:t>
            </a:r>
            <a:endParaRPr>
              <a:solidFill>
                <a:schemeClr val="dk1"/>
              </a:solidFill>
            </a:endParaRPr>
          </a:p>
        </p:txBody>
      </p:sp>
      <p:pic>
        <p:nvPicPr>
          <p:cNvPr id="76" name="Google Shape;76;p4"/>
          <p:cNvPicPr preferRelativeResize="0"/>
          <p:nvPr/>
        </p:nvPicPr>
        <p:blipFill rotWithShape="1">
          <a:blip r:embed="rId3">
            <a:alphaModFix/>
          </a:blip>
          <a:srcRect b="0" l="0" r="0" t="0"/>
          <a:stretch/>
        </p:blipFill>
        <p:spPr>
          <a:xfrm>
            <a:off x="808775" y="3687288"/>
            <a:ext cx="1403899" cy="789699"/>
          </a:xfrm>
          <a:prstGeom prst="rect">
            <a:avLst/>
          </a:prstGeom>
          <a:noFill/>
          <a:ln>
            <a:noFill/>
          </a:ln>
        </p:spPr>
      </p:pic>
      <p:pic>
        <p:nvPicPr>
          <p:cNvPr id="77" name="Google Shape;77;p4"/>
          <p:cNvPicPr preferRelativeResize="0"/>
          <p:nvPr/>
        </p:nvPicPr>
        <p:blipFill rotWithShape="1">
          <a:blip r:embed="rId4">
            <a:alphaModFix/>
          </a:blip>
          <a:srcRect b="0" l="0" r="0" t="0"/>
          <a:stretch/>
        </p:blipFill>
        <p:spPr>
          <a:xfrm>
            <a:off x="2519800" y="3761888"/>
            <a:ext cx="1344874" cy="640500"/>
          </a:xfrm>
          <a:prstGeom prst="rect">
            <a:avLst/>
          </a:prstGeom>
          <a:noFill/>
          <a:ln>
            <a:noFill/>
          </a:ln>
        </p:spPr>
      </p:pic>
      <p:pic>
        <p:nvPicPr>
          <p:cNvPr id="78" name="Google Shape;78;p4"/>
          <p:cNvPicPr preferRelativeResize="0"/>
          <p:nvPr/>
        </p:nvPicPr>
        <p:blipFill rotWithShape="1">
          <a:blip r:embed="rId5">
            <a:alphaModFix/>
          </a:blip>
          <a:srcRect b="0" l="0" r="46207" t="0"/>
          <a:stretch/>
        </p:blipFill>
        <p:spPr>
          <a:xfrm>
            <a:off x="4112475" y="3687299"/>
            <a:ext cx="4614451" cy="451052"/>
          </a:xfrm>
          <a:prstGeom prst="rect">
            <a:avLst/>
          </a:prstGeom>
          <a:noFill/>
          <a:ln>
            <a:noFill/>
          </a:ln>
        </p:spPr>
      </p:pic>
      <p:pic>
        <p:nvPicPr>
          <p:cNvPr id="79" name="Google Shape;79;p4"/>
          <p:cNvPicPr preferRelativeResize="0"/>
          <p:nvPr/>
        </p:nvPicPr>
        <p:blipFill rotWithShape="1">
          <a:blip r:embed="rId5">
            <a:alphaModFix/>
          </a:blip>
          <a:srcRect b="0" l="54325" r="0" t="0"/>
          <a:stretch/>
        </p:blipFill>
        <p:spPr>
          <a:xfrm>
            <a:off x="4808847" y="4248322"/>
            <a:ext cx="3918076" cy="4510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Table Diagrams are a Schema</a:t>
            </a:r>
            <a:endParaRPr b="1"/>
          </a:p>
        </p:txBody>
      </p:sp>
      <p:sp>
        <p:nvSpPr>
          <p:cNvPr id="85" name="Google Shape;85;p5"/>
          <p:cNvSpPr/>
          <p:nvPr/>
        </p:nvSpPr>
        <p:spPr>
          <a:xfrm>
            <a:off x="311688" y="1714952"/>
            <a:ext cx="1658400" cy="273000"/>
          </a:xfrm>
          <a:prstGeom prst="rect">
            <a:avLst/>
          </a:prstGeom>
          <a:solidFill>
            <a:srgbClr val="CCCC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movie</a:t>
            </a:r>
            <a:endParaRPr b="0" i="0" sz="1400" u="none" cap="none" strike="noStrike">
              <a:solidFill>
                <a:srgbClr val="000000"/>
              </a:solidFill>
              <a:latin typeface="Arial"/>
              <a:ea typeface="Arial"/>
              <a:cs typeface="Arial"/>
              <a:sym typeface="Arial"/>
            </a:endParaRPr>
          </a:p>
        </p:txBody>
      </p:sp>
      <p:sp>
        <p:nvSpPr>
          <p:cNvPr id="86" name="Google Shape;86;p5"/>
          <p:cNvSpPr/>
          <p:nvPr/>
        </p:nvSpPr>
        <p:spPr>
          <a:xfrm>
            <a:off x="311688" y="1987950"/>
            <a:ext cx="1658400" cy="1440600"/>
          </a:xfrm>
          <a:prstGeom prst="rect">
            <a:avLst/>
          </a:prstGeom>
          <a:solidFill>
            <a:srgbClr val="FFFFFF"/>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movie_id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400" u="none" cap="none" strike="noStrike">
                <a:solidFill>
                  <a:srgbClr val="000000"/>
                </a:solidFill>
                <a:latin typeface="Arial"/>
                <a:ea typeface="Arial"/>
                <a:cs typeface="Arial"/>
                <a:sym typeface="Arial"/>
              </a:rPr>
              <a:t>title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400" u="none" cap="none" strike="noStrike">
                <a:solidFill>
                  <a:srgbClr val="000000"/>
                </a:solidFill>
                <a:latin typeface="Arial"/>
                <a:ea typeface="Arial"/>
                <a:cs typeface="Arial"/>
                <a:sym typeface="Arial"/>
              </a:rPr>
              <a:t>runtime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400" u="none" cap="none" strike="noStrike">
                <a:solidFill>
                  <a:srgbClr val="000000"/>
                </a:solidFill>
                <a:latin typeface="Arial"/>
                <a:ea typeface="Arial"/>
                <a:cs typeface="Arial"/>
                <a:sym typeface="Arial"/>
              </a:rPr>
              <a:t>genre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400" u="none" cap="none" strike="noStrike">
                <a:solidFill>
                  <a:srgbClr val="000000"/>
                </a:solidFill>
                <a:latin typeface="Arial"/>
                <a:ea typeface="Arial"/>
                <a:cs typeface="Arial"/>
                <a:sym typeface="Arial"/>
              </a:rPr>
              <a:t>release_date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director_id</a:t>
            </a:r>
            <a:endParaRPr b="0" i="0" sz="1400" u="none" cap="none" strike="noStrike">
              <a:solidFill>
                <a:srgbClr val="000000"/>
              </a:solidFill>
              <a:latin typeface="Arial"/>
              <a:ea typeface="Arial"/>
              <a:cs typeface="Arial"/>
              <a:sym typeface="Arial"/>
            </a:endParaRPr>
          </a:p>
        </p:txBody>
      </p:sp>
      <p:sp>
        <p:nvSpPr>
          <p:cNvPr id="87" name="Google Shape;87;p5"/>
          <p:cNvSpPr txBox="1"/>
          <p:nvPr/>
        </p:nvSpPr>
        <p:spPr>
          <a:xfrm>
            <a:off x="311700" y="1017725"/>
            <a:ext cx="8520600" cy="4617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chemeClr val="dk1"/>
              </a:buClr>
              <a:buSzPts val="1800"/>
              <a:buFont typeface="Arial"/>
              <a:buChar char="●"/>
            </a:pPr>
            <a:r>
              <a:rPr b="0" i="0" lang="en" sz="1800" u="none" cap="none" strike="noStrike">
                <a:solidFill>
                  <a:schemeClr val="dk1"/>
                </a:solidFill>
                <a:latin typeface="Arial"/>
                <a:ea typeface="Arial"/>
                <a:cs typeface="Arial"/>
                <a:sym typeface="Arial"/>
              </a:rPr>
              <a:t>We will expand these diagrams to hold more information</a:t>
            </a:r>
            <a:endParaRPr b="0" i="0" sz="1800" u="none" cap="none" strike="noStrike">
              <a:solidFill>
                <a:schemeClr val="dk1"/>
              </a:solidFill>
              <a:latin typeface="Arial"/>
              <a:ea typeface="Arial"/>
              <a:cs typeface="Arial"/>
              <a:sym typeface="Arial"/>
            </a:endParaRPr>
          </a:p>
        </p:txBody>
      </p:sp>
      <p:sp>
        <p:nvSpPr>
          <p:cNvPr id="88" name="Google Shape;88;p5"/>
          <p:cNvSpPr/>
          <p:nvPr/>
        </p:nvSpPr>
        <p:spPr>
          <a:xfrm>
            <a:off x="2670512" y="1714950"/>
            <a:ext cx="2538000" cy="273000"/>
          </a:xfrm>
          <a:prstGeom prst="rect">
            <a:avLst/>
          </a:prstGeom>
          <a:solidFill>
            <a:srgbClr val="CCCC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movie</a:t>
            </a:r>
            <a:endParaRPr b="0" i="0" sz="1400" u="none" cap="none" strike="noStrike">
              <a:solidFill>
                <a:srgbClr val="000000"/>
              </a:solidFill>
              <a:latin typeface="Arial"/>
              <a:ea typeface="Arial"/>
              <a:cs typeface="Arial"/>
              <a:sym typeface="Arial"/>
            </a:endParaRPr>
          </a:p>
        </p:txBody>
      </p:sp>
      <p:sp>
        <p:nvSpPr>
          <p:cNvPr id="89" name="Google Shape;89;p5"/>
          <p:cNvSpPr/>
          <p:nvPr/>
        </p:nvSpPr>
        <p:spPr>
          <a:xfrm>
            <a:off x="2670387" y="1987950"/>
            <a:ext cx="2538000" cy="1440600"/>
          </a:xfrm>
          <a:prstGeom prst="rect">
            <a:avLst/>
          </a:prstGeom>
          <a:solidFill>
            <a:srgbClr val="FFFFFF"/>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movie_id		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400" u="none" cap="none" strike="noStrike">
                <a:solidFill>
                  <a:srgbClr val="000000"/>
                </a:solidFill>
                <a:latin typeface="Arial"/>
                <a:ea typeface="Arial"/>
                <a:cs typeface="Arial"/>
                <a:sym typeface="Arial"/>
              </a:rPr>
              <a:t>title</a:t>
            </a:r>
            <a:r>
              <a:rPr b="0" i="0" lang="en" sz="1400" u="none" cap="none" strike="noStrike">
                <a:solidFill>
                  <a:schemeClr val="dk1"/>
                </a:solidFill>
                <a:latin typeface="Arial"/>
                <a:ea typeface="Arial"/>
                <a:cs typeface="Arial"/>
                <a:sym typeface="Arial"/>
              </a:rPr>
              <a:t>			VARCHAR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400" u="none" cap="none" strike="noStrike">
                <a:solidFill>
                  <a:srgbClr val="000000"/>
                </a:solidFill>
                <a:latin typeface="Arial"/>
                <a:ea typeface="Arial"/>
                <a:cs typeface="Arial"/>
                <a:sym typeface="Arial"/>
              </a:rPr>
              <a:t>runtime</a:t>
            </a:r>
            <a:r>
              <a:rPr b="0" i="0" lang="en" sz="1400" u="none" cap="none" strike="noStrike">
                <a:solidFill>
                  <a:schemeClr val="dk1"/>
                </a:solidFill>
                <a:latin typeface="Arial"/>
                <a:ea typeface="Arial"/>
                <a:cs typeface="Arial"/>
                <a:sym typeface="Arial"/>
              </a:rPr>
              <a:t>		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400" u="none" cap="none" strike="noStrike">
                <a:solidFill>
                  <a:srgbClr val="000000"/>
                </a:solidFill>
                <a:latin typeface="Arial"/>
                <a:ea typeface="Arial"/>
                <a:cs typeface="Arial"/>
                <a:sym typeface="Arial"/>
              </a:rPr>
              <a:t>genre</a:t>
            </a:r>
            <a:r>
              <a:rPr b="0" i="0" lang="en" sz="1400" u="none" cap="none" strike="noStrike">
                <a:solidFill>
                  <a:schemeClr val="dk1"/>
                </a:solidFill>
                <a:latin typeface="Arial"/>
                <a:ea typeface="Arial"/>
                <a:cs typeface="Arial"/>
                <a:sym typeface="Arial"/>
              </a:rPr>
              <a:t>			VARCHAR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400" u="none" cap="none" strike="noStrike">
                <a:solidFill>
                  <a:srgbClr val="000000"/>
                </a:solidFill>
                <a:latin typeface="Arial"/>
                <a:ea typeface="Arial"/>
                <a:cs typeface="Arial"/>
                <a:sym typeface="Arial"/>
              </a:rPr>
              <a:t>release_date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director_id		INT</a:t>
            </a:r>
            <a:endParaRPr b="0" i="0" sz="1400" u="none" cap="none" strike="noStrike">
              <a:solidFill>
                <a:srgbClr val="000000"/>
              </a:solidFill>
              <a:latin typeface="Arial"/>
              <a:ea typeface="Arial"/>
              <a:cs typeface="Arial"/>
              <a:sym typeface="Arial"/>
            </a:endParaRPr>
          </a:p>
        </p:txBody>
      </p:sp>
      <p:sp>
        <p:nvSpPr>
          <p:cNvPr id="90" name="Google Shape;90;p5"/>
          <p:cNvSpPr/>
          <p:nvPr/>
        </p:nvSpPr>
        <p:spPr>
          <a:xfrm>
            <a:off x="5908800" y="1714950"/>
            <a:ext cx="2923500" cy="273000"/>
          </a:xfrm>
          <a:prstGeom prst="rect">
            <a:avLst/>
          </a:prstGeom>
          <a:solidFill>
            <a:srgbClr val="CCCC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movie</a:t>
            </a:r>
            <a:endParaRPr b="0" i="0" sz="1400" u="none" cap="none" strike="noStrike">
              <a:solidFill>
                <a:srgbClr val="000000"/>
              </a:solidFill>
              <a:latin typeface="Arial"/>
              <a:ea typeface="Arial"/>
              <a:cs typeface="Arial"/>
              <a:sym typeface="Arial"/>
            </a:endParaRPr>
          </a:p>
        </p:txBody>
      </p:sp>
      <p:sp>
        <p:nvSpPr>
          <p:cNvPr id="91" name="Google Shape;91;p5"/>
          <p:cNvSpPr/>
          <p:nvPr/>
        </p:nvSpPr>
        <p:spPr>
          <a:xfrm>
            <a:off x="5908900" y="1987950"/>
            <a:ext cx="2923500" cy="1440600"/>
          </a:xfrm>
          <a:prstGeom prst="rect">
            <a:avLst/>
          </a:prstGeom>
          <a:solidFill>
            <a:srgbClr val="FFFFFF"/>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PK	</a:t>
            </a:r>
            <a:r>
              <a:rPr b="0" i="0" lang="en" sz="1400" u="none" cap="none" strike="noStrike">
                <a:solidFill>
                  <a:srgbClr val="000000"/>
                </a:solidFill>
                <a:latin typeface="Arial"/>
                <a:ea typeface="Arial"/>
                <a:cs typeface="Arial"/>
                <a:sym typeface="Arial"/>
              </a:rPr>
              <a:t>movie_id		INT</a:t>
            </a:r>
            <a:endParaRPr b="0" i="0" sz="1400" u="none" cap="none" strike="noStrike">
              <a:solidFill>
                <a:srgbClr val="000000"/>
              </a:solidFill>
              <a:latin typeface="Arial"/>
              <a:ea typeface="Arial"/>
              <a:cs typeface="Arial"/>
              <a:sym typeface="Arial"/>
            </a:endParaRPr>
          </a:p>
          <a:p>
            <a:pPr indent="457200" lvl="0" marL="0" marR="0" rtl="0" algn="l">
              <a:lnSpc>
                <a:spcPct val="100000"/>
              </a:lnSpc>
              <a:spcBef>
                <a:spcPts val="0"/>
              </a:spcBef>
              <a:spcAft>
                <a:spcPts val="0"/>
              </a:spcAft>
              <a:buClr>
                <a:srgbClr val="000000"/>
              </a:buClr>
              <a:buSzPts val="1100"/>
              <a:buFont typeface="Arial"/>
              <a:buNone/>
            </a:pPr>
            <a:r>
              <a:rPr b="0" i="0" lang="en" sz="1400" u="none" cap="none" strike="noStrike">
                <a:solidFill>
                  <a:srgbClr val="000000"/>
                </a:solidFill>
                <a:latin typeface="Arial"/>
                <a:ea typeface="Arial"/>
                <a:cs typeface="Arial"/>
                <a:sym typeface="Arial"/>
              </a:rPr>
              <a:t>title</a:t>
            </a:r>
            <a:r>
              <a:rPr b="0" i="0" lang="en" sz="1400" u="none" cap="none" strike="noStrike">
                <a:solidFill>
                  <a:schemeClr val="dk1"/>
                </a:solidFill>
                <a:latin typeface="Arial"/>
                <a:ea typeface="Arial"/>
                <a:cs typeface="Arial"/>
                <a:sym typeface="Arial"/>
              </a:rPr>
              <a:t>			VARCHAR</a:t>
            </a:r>
            <a:endParaRPr b="0" i="0" sz="1400" u="none" cap="none" strike="noStrike">
              <a:solidFill>
                <a:srgbClr val="000000"/>
              </a:solidFill>
              <a:latin typeface="Arial"/>
              <a:ea typeface="Arial"/>
              <a:cs typeface="Arial"/>
              <a:sym typeface="Arial"/>
            </a:endParaRPr>
          </a:p>
          <a:p>
            <a:pPr indent="457200" lvl="0" marL="0" marR="0" rtl="0" algn="l">
              <a:lnSpc>
                <a:spcPct val="100000"/>
              </a:lnSpc>
              <a:spcBef>
                <a:spcPts val="0"/>
              </a:spcBef>
              <a:spcAft>
                <a:spcPts val="0"/>
              </a:spcAft>
              <a:buClr>
                <a:srgbClr val="000000"/>
              </a:buClr>
              <a:buSzPts val="1100"/>
              <a:buFont typeface="Arial"/>
              <a:buNone/>
            </a:pPr>
            <a:r>
              <a:rPr b="0" i="0" lang="en" sz="1400" u="none" cap="none" strike="noStrike">
                <a:solidFill>
                  <a:srgbClr val="000000"/>
                </a:solidFill>
                <a:latin typeface="Arial"/>
                <a:ea typeface="Arial"/>
                <a:cs typeface="Arial"/>
                <a:sym typeface="Arial"/>
              </a:rPr>
              <a:t>runtime</a:t>
            </a:r>
            <a:r>
              <a:rPr b="0" i="0" lang="en" sz="1400" u="none" cap="none" strike="noStrike">
                <a:solidFill>
                  <a:schemeClr val="dk1"/>
                </a:solidFill>
                <a:latin typeface="Arial"/>
                <a:ea typeface="Arial"/>
                <a:cs typeface="Arial"/>
                <a:sym typeface="Arial"/>
              </a:rPr>
              <a:t>		INT</a:t>
            </a:r>
            <a:endParaRPr b="0" i="0" sz="1400" u="none" cap="none" strike="noStrike">
              <a:solidFill>
                <a:srgbClr val="000000"/>
              </a:solidFill>
              <a:latin typeface="Arial"/>
              <a:ea typeface="Arial"/>
              <a:cs typeface="Arial"/>
              <a:sym typeface="Arial"/>
            </a:endParaRPr>
          </a:p>
          <a:p>
            <a:pPr indent="457200" lvl="0" marL="0" marR="0" rtl="0" algn="l">
              <a:lnSpc>
                <a:spcPct val="100000"/>
              </a:lnSpc>
              <a:spcBef>
                <a:spcPts val="0"/>
              </a:spcBef>
              <a:spcAft>
                <a:spcPts val="0"/>
              </a:spcAft>
              <a:buClr>
                <a:srgbClr val="000000"/>
              </a:buClr>
              <a:buSzPts val="1100"/>
              <a:buFont typeface="Arial"/>
              <a:buNone/>
            </a:pPr>
            <a:r>
              <a:rPr b="0" i="0" lang="en" sz="1400" u="none" cap="none" strike="noStrike">
                <a:solidFill>
                  <a:srgbClr val="000000"/>
                </a:solidFill>
                <a:latin typeface="Arial"/>
                <a:ea typeface="Arial"/>
                <a:cs typeface="Arial"/>
                <a:sym typeface="Arial"/>
              </a:rPr>
              <a:t>genre</a:t>
            </a:r>
            <a:r>
              <a:rPr b="0" i="0" lang="en" sz="1400" u="none" cap="none" strike="noStrike">
                <a:solidFill>
                  <a:schemeClr val="dk1"/>
                </a:solidFill>
                <a:latin typeface="Arial"/>
                <a:ea typeface="Arial"/>
                <a:cs typeface="Arial"/>
                <a:sym typeface="Arial"/>
              </a:rPr>
              <a:t>			VARCHAR</a:t>
            </a:r>
            <a:endParaRPr b="0" i="0" sz="1400" u="none" cap="none" strike="noStrike">
              <a:solidFill>
                <a:srgbClr val="000000"/>
              </a:solidFill>
              <a:latin typeface="Arial"/>
              <a:ea typeface="Arial"/>
              <a:cs typeface="Arial"/>
              <a:sym typeface="Arial"/>
            </a:endParaRPr>
          </a:p>
          <a:p>
            <a:pPr indent="457200" lvl="0" marL="0" marR="0" rtl="0" algn="l">
              <a:lnSpc>
                <a:spcPct val="100000"/>
              </a:lnSpc>
              <a:spcBef>
                <a:spcPts val="0"/>
              </a:spcBef>
              <a:spcAft>
                <a:spcPts val="0"/>
              </a:spcAft>
              <a:buClr>
                <a:srgbClr val="000000"/>
              </a:buClr>
              <a:buSzPts val="1100"/>
              <a:buFont typeface="Arial"/>
              <a:buNone/>
            </a:pPr>
            <a:r>
              <a:rPr b="0" i="0" lang="en" sz="1400" u="none" cap="none" strike="noStrike">
                <a:solidFill>
                  <a:srgbClr val="000000"/>
                </a:solidFill>
                <a:latin typeface="Arial"/>
                <a:ea typeface="Arial"/>
                <a:cs typeface="Arial"/>
                <a:sym typeface="Arial"/>
              </a:rPr>
              <a:t>release_date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FK</a:t>
            </a:r>
            <a:r>
              <a:rPr b="0" i="0" lang="en" sz="1400" u="none" cap="none" strike="noStrike">
                <a:solidFill>
                  <a:schemeClr val="dk1"/>
                </a:solidFill>
                <a:latin typeface="Arial"/>
                <a:ea typeface="Arial"/>
                <a:cs typeface="Arial"/>
                <a:sym typeface="Arial"/>
              </a:rPr>
              <a:t>	director_id		INT</a:t>
            </a:r>
            <a:endParaRPr b="0" i="0" sz="1400" u="none" cap="none" strike="noStrike">
              <a:solidFill>
                <a:srgbClr val="000000"/>
              </a:solidFill>
              <a:latin typeface="Arial"/>
              <a:ea typeface="Arial"/>
              <a:cs typeface="Arial"/>
              <a:sym typeface="Arial"/>
            </a:endParaRPr>
          </a:p>
        </p:txBody>
      </p:sp>
      <p:sp>
        <p:nvSpPr>
          <p:cNvPr id="92" name="Google Shape;92;p5"/>
          <p:cNvSpPr txBox="1"/>
          <p:nvPr/>
        </p:nvSpPr>
        <p:spPr>
          <a:xfrm>
            <a:off x="2847650" y="3502950"/>
            <a:ext cx="21837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This Week</a:t>
            </a:r>
            <a:endParaRPr b="1" i="0" sz="1800" u="none" cap="none" strike="noStrike">
              <a:solidFill>
                <a:schemeClr val="dk1"/>
              </a:solidFill>
              <a:latin typeface="Arial"/>
              <a:ea typeface="Arial"/>
              <a:cs typeface="Arial"/>
              <a:sym typeface="Arial"/>
            </a:endParaRPr>
          </a:p>
        </p:txBody>
      </p:sp>
      <p:sp>
        <p:nvSpPr>
          <p:cNvPr id="93" name="Google Shape;93;p5"/>
          <p:cNvSpPr txBox="1"/>
          <p:nvPr/>
        </p:nvSpPr>
        <p:spPr>
          <a:xfrm>
            <a:off x="6278800" y="3502950"/>
            <a:ext cx="21837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Next Week</a:t>
            </a:r>
            <a:endParaRPr b="1" i="0" sz="18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6"/>
          <p:cNvSpPr/>
          <p:nvPr/>
        </p:nvSpPr>
        <p:spPr>
          <a:xfrm flipH="1" rot="10800000">
            <a:off x="2130700" y="-4100"/>
            <a:ext cx="2253300" cy="328800"/>
          </a:xfrm>
          <a:prstGeom prst="round2SameRect">
            <a:avLst>
              <a:gd fmla="val 16667" name="adj1"/>
              <a:gd fmla="val 0" name="adj2"/>
            </a:avLst>
          </a:prstGeom>
          <a:solidFill>
            <a:srgbClr val="36363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Determining the Purpose of a Database</a:t>
            </a:r>
            <a:r>
              <a:rPr b="1" baseline="30000" lang="en" u="sng">
                <a:solidFill>
                  <a:schemeClr val="accent5"/>
                </a:solidFill>
                <a:hlinkClick r:id="rId3">
                  <a:extLst>
                    <a:ext uri="{A12FA001-AC4F-418D-AE19-62706E023703}">
                      <ahyp:hlinkClr val="tx"/>
                    </a:ext>
                  </a:extLst>
                </a:hlinkClick>
              </a:rPr>
              <a:t>1</a:t>
            </a:r>
            <a:endParaRPr b="1"/>
          </a:p>
        </p:txBody>
      </p:sp>
      <p:sp>
        <p:nvSpPr>
          <p:cNvPr id="100" name="Google Shape;100;p6"/>
          <p:cNvSpPr txBox="1"/>
          <p:nvPr>
            <p:ph idx="1" type="body"/>
          </p:nvPr>
        </p:nvSpPr>
        <p:spPr>
          <a:xfrm>
            <a:off x="311700" y="1017725"/>
            <a:ext cx="8520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SzPts val="1800"/>
              <a:buNone/>
            </a:pPr>
            <a:r>
              <a:rPr lang="en">
                <a:solidFill>
                  <a:schemeClr val="dk1"/>
                </a:solidFill>
              </a:rPr>
              <a:t>Who will use the database? How do you expect to use the database? </a:t>
            </a:r>
            <a:endParaRPr b="1">
              <a:solidFill>
                <a:schemeClr val="dk1"/>
              </a:solidFill>
            </a:endParaRPr>
          </a:p>
        </p:txBody>
      </p:sp>
      <p:sp>
        <p:nvSpPr>
          <p:cNvPr id="101" name="Google Shape;101;p6"/>
          <p:cNvSpPr txBox="1"/>
          <p:nvPr/>
        </p:nvSpPr>
        <p:spPr>
          <a:xfrm>
            <a:off x="2133800" y="-60175"/>
            <a:ext cx="22503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Arial"/>
                <a:ea typeface="Arial"/>
                <a:cs typeface="Arial"/>
                <a:sym typeface="Arial"/>
              </a:rPr>
              <a:t>1 - Database Purpose</a:t>
            </a:r>
            <a:endParaRPr b="1" i="0" sz="1600" u="none" cap="none" strike="noStrike">
              <a:solidFill>
                <a:schemeClr val="dk1"/>
              </a:solidFill>
              <a:latin typeface="Arial"/>
              <a:ea typeface="Arial"/>
              <a:cs typeface="Arial"/>
              <a:sym typeface="Arial"/>
            </a:endParaRPr>
          </a:p>
        </p:txBody>
      </p:sp>
      <p:sp>
        <p:nvSpPr>
          <p:cNvPr id="102" name="Google Shape;102;p6"/>
          <p:cNvSpPr txBox="1"/>
          <p:nvPr/>
        </p:nvSpPr>
        <p:spPr>
          <a:xfrm>
            <a:off x="0" y="4835700"/>
            <a:ext cx="9144000" cy="307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0" baseline="30000" i="0" lang="en" sz="800" u="none" cap="none" strike="noStrike">
                <a:solidFill>
                  <a:srgbClr val="000000"/>
                </a:solidFill>
                <a:latin typeface="Arial"/>
                <a:ea typeface="Arial"/>
                <a:cs typeface="Arial"/>
                <a:sym typeface="Arial"/>
              </a:rPr>
              <a:t>1</a:t>
            </a:r>
            <a:r>
              <a:rPr b="0" i="0" lang="en" sz="800" u="none" cap="none" strike="noStrike">
                <a:solidFill>
                  <a:srgbClr val="000000"/>
                </a:solidFill>
                <a:latin typeface="Arial"/>
                <a:ea typeface="Arial"/>
                <a:cs typeface="Arial"/>
                <a:sym typeface="Arial"/>
              </a:rPr>
              <a:t> </a:t>
            </a:r>
            <a:r>
              <a:rPr b="0" i="0" lang="en" sz="800" u="sng" cap="none" strike="noStrike">
                <a:solidFill>
                  <a:schemeClr val="hlink"/>
                </a:solidFill>
                <a:latin typeface="Arial"/>
                <a:ea typeface="Arial"/>
                <a:cs typeface="Arial"/>
                <a:sym typeface="Arial"/>
                <a:hlinkClick r:id="rId4"/>
              </a:rPr>
              <a:t>Microsoft - DB Design Basics - The design process</a:t>
            </a:r>
            <a:endParaRPr b="0" i="0" sz="800" u="none" cap="none" strike="noStrike">
              <a:solidFill>
                <a:srgbClr val="000000"/>
              </a:solidFill>
              <a:latin typeface="Arial"/>
              <a:ea typeface="Arial"/>
              <a:cs typeface="Arial"/>
              <a:sym typeface="Arial"/>
            </a:endParaRPr>
          </a:p>
        </p:txBody>
      </p:sp>
      <p:sp>
        <p:nvSpPr>
          <p:cNvPr id="103" name="Google Shape;103;p6"/>
          <p:cNvSpPr txBox="1"/>
          <p:nvPr/>
        </p:nvSpPr>
        <p:spPr>
          <a:xfrm>
            <a:off x="311700" y="1479425"/>
            <a:ext cx="4260300" cy="1265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Movie DB - Class Use - Simple </a:t>
            </a:r>
            <a:endParaRPr b="1" i="0" sz="1800" u="none" cap="none" strike="noStrike">
              <a:solidFill>
                <a:schemeClr val="dk1"/>
              </a:solidFill>
              <a:latin typeface="Arial"/>
              <a:ea typeface="Arial"/>
              <a:cs typeface="Arial"/>
              <a:sym typeface="Arial"/>
            </a:endParaRPr>
          </a:p>
          <a:p>
            <a:pPr indent="-323850" lvl="0" marL="457200" marR="0" rtl="0" algn="l">
              <a:lnSpc>
                <a:spcPct val="115000"/>
              </a:lnSpc>
              <a:spcBef>
                <a:spcPts val="0"/>
              </a:spcBef>
              <a:spcAft>
                <a:spcPts val="0"/>
              </a:spcAft>
              <a:buClr>
                <a:schemeClr val="dk1"/>
              </a:buClr>
              <a:buSzPts val="1500"/>
              <a:buFont typeface="Arial"/>
              <a:buChar char="●"/>
            </a:pPr>
            <a:r>
              <a:rPr b="0" i="0" lang="en" sz="1500" u="none" cap="none" strike="noStrike">
                <a:solidFill>
                  <a:schemeClr val="dk1"/>
                </a:solidFill>
                <a:latin typeface="Arial"/>
                <a:ea typeface="Arial"/>
                <a:cs typeface="Arial"/>
                <a:sym typeface="Arial"/>
              </a:rPr>
              <a:t>Used by Instructor (or class members)</a:t>
            </a:r>
            <a:endParaRPr b="0" i="0" sz="1500" u="none" cap="none" strike="noStrike">
              <a:solidFill>
                <a:schemeClr val="dk1"/>
              </a:solidFill>
              <a:latin typeface="Arial"/>
              <a:ea typeface="Arial"/>
              <a:cs typeface="Arial"/>
              <a:sym typeface="Arial"/>
            </a:endParaRPr>
          </a:p>
          <a:p>
            <a:pPr indent="-323850" lvl="0" marL="457200" marR="0" rtl="0" algn="l">
              <a:lnSpc>
                <a:spcPct val="115000"/>
              </a:lnSpc>
              <a:spcBef>
                <a:spcPts val="0"/>
              </a:spcBef>
              <a:spcAft>
                <a:spcPts val="0"/>
              </a:spcAft>
              <a:buClr>
                <a:schemeClr val="dk1"/>
              </a:buClr>
              <a:buSzPts val="1500"/>
              <a:buFont typeface="Arial"/>
              <a:buChar char="●"/>
            </a:pPr>
            <a:r>
              <a:rPr b="0" i="0" lang="en" sz="1500" u="none" cap="none" strike="noStrike">
                <a:solidFill>
                  <a:schemeClr val="dk1"/>
                </a:solidFill>
                <a:latin typeface="Arial"/>
                <a:ea typeface="Arial"/>
                <a:cs typeface="Arial"/>
                <a:sym typeface="Arial"/>
              </a:rPr>
              <a:t>Used to store information about movies for instructional purposes</a:t>
            </a:r>
            <a:endParaRPr b="0" i="0" sz="1500" u="none" cap="none" strike="noStrike">
              <a:solidFill>
                <a:schemeClr val="dk1"/>
              </a:solidFill>
              <a:latin typeface="Arial"/>
              <a:ea typeface="Arial"/>
              <a:cs typeface="Arial"/>
              <a:sym typeface="Arial"/>
            </a:endParaRPr>
          </a:p>
        </p:txBody>
      </p:sp>
      <p:sp>
        <p:nvSpPr>
          <p:cNvPr id="104" name="Google Shape;104;p6"/>
          <p:cNvSpPr txBox="1"/>
          <p:nvPr/>
        </p:nvSpPr>
        <p:spPr>
          <a:xfrm>
            <a:off x="4572000" y="1479425"/>
            <a:ext cx="4260300" cy="2706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 Movie DB - IMDB Use - Specific</a:t>
            </a:r>
            <a:endParaRPr b="1" i="0" sz="1800" u="none" cap="none" strike="noStrike">
              <a:solidFill>
                <a:schemeClr val="dk1"/>
              </a:solidFill>
              <a:latin typeface="Arial"/>
              <a:ea typeface="Arial"/>
              <a:cs typeface="Arial"/>
              <a:sym typeface="Arial"/>
            </a:endParaRPr>
          </a:p>
          <a:p>
            <a:pPr indent="-323850" lvl="0" marL="457200" marR="0" rtl="0" algn="l">
              <a:lnSpc>
                <a:spcPct val="115000"/>
              </a:lnSpc>
              <a:spcBef>
                <a:spcPts val="0"/>
              </a:spcBef>
              <a:spcAft>
                <a:spcPts val="0"/>
              </a:spcAft>
              <a:buClr>
                <a:schemeClr val="dk1"/>
              </a:buClr>
              <a:buSzPts val="1500"/>
              <a:buFont typeface="Arial"/>
              <a:buChar char="●"/>
            </a:pPr>
            <a:r>
              <a:rPr b="0" i="0" lang="en" sz="1500" u="none" cap="none" strike="noStrike">
                <a:solidFill>
                  <a:schemeClr val="dk1"/>
                </a:solidFill>
                <a:latin typeface="Arial"/>
                <a:ea typeface="Arial"/>
                <a:cs typeface="Arial"/>
                <a:sym typeface="Arial"/>
              </a:rPr>
              <a:t>Used by Employees and Accessed by the public</a:t>
            </a:r>
            <a:endParaRPr b="0" i="0" sz="1500" u="none" cap="none" strike="noStrike">
              <a:solidFill>
                <a:schemeClr val="dk1"/>
              </a:solidFill>
              <a:latin typeface="Arial"/>
              <a:ea typeface="Arial"/>
              <a:cs typeface="Arial"/>
              <a:sym typeface="Arial"/>
            </a:endParaRPr>
          </a:p>
          <a:p>
            <a:pPr indent="-304800" lvl="0" marL="68580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Used to store information about movies all over the world, to act as the go to international movie information source</a:t>
            </a:r>
            <a:endParaRPr b="0" i="0" sz="1200" u="none" cap="none" strike="noStrike">
              <a:solidFill>
                <a:schemeClr val="dk1"/>
              </a:solidFill>
              <a:latin typeface="Arial"/>
              <a:ea typeface="Arial"/>
              <a:cs typeface="Arial"/>
              <a:sym typeface="Arial"/>
            </a:endParaRPr>
          </a:p>
          <a:p>
            <a:pPr indent="-304800" lvl="0" marL="68580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Employees must be able to access only portions of the database they are authorized for</a:t>
            </a:r>
            <a:endParaRPr b="0" i="0" sz="1200" u="none" cap="none" strike="noStrike">
              <a:solidFill>
                <a:schemeClr val="dk1"/>
              </a:solidFill>
              <a:latin typeface="Arial"/>
              <a:ea typeface="Arial"/>
              <a:cs typeface="Arial"/>
              <a:sym typeface="Arial"/>
            </a:endParaRPr>
          </a:p>
          <a:p>
            <a:pPr indent="-304800" lvl="0" marL="68580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Public users should have READ ONLY access, accessible through the IMDB web app or authorized APIs</a:t>
            </a:r>
            <a:endParaRPr b="0" i="0" sz="1500" u="none" cap="none" strike="noStrike">
              <a:solidFill>
                <a:schemeClr val="dk1"/>
              </a:solidFill>
              <a:latin typeface="Arial"/>
              <a:ea typeface="Arial"/>
              <a:cs typeface="Arial"/>
              <a:sym typeface="Arial"/>
            </a:endParaRPr>
          </a:p>
        </p:txBody>
      </p:sp>
      <p:sp>
        <p:nvSpPr>
          <p:cNvPr id="105" name="Google Shape;105;p6"/>
          <p:cNvSpPr txBox="1"/>
          <p:nvPr>
            <p:ph idx="1" type="body"/>
          </p:nvPr>
        </p:nvSpPr>
        <p:spPr>
          <a:xfrm>
            <a:off x="402675" y="3283450"/>
            <a:ext cx="4260300" cy="141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SzPts val="1800"/>
              <a:buNone/>
            </a:pPr>
            <a:r>
              <a:rPr lang="en">
                <a:solidFill>
                  <a:schemeClr val="dk1"/>
                </a:solidFill>
              </a:rPr>
              <a:t>This step should define your guiding </a:t>
            </a:r>
            <a:r>
              <a:rPr b="1" lang="en">
                <a:solidFill>
                  <a:schemeClr val="dk1"/>
                </a:solidFill>
              </a:rPr>
              <a:t>mission statement</a:t>
            </a:r>
            <a:r>
              <a:rPr lang="en">
                <a:solidFill>
                  <a:schemeClr val="dk1"/>
                </a:solidFill>
              </a:rPr>
              <a:t> that informs your goals and decision making as you develop your DB</a:t>
            </a:r>
            <a:endParaRPr b="1">
              <a:solidFill>
                <a:schemeClr val="dk1"/>
              </a:solidFill>
            </a:endParaRPr>
          </a:p>
        </p:txBody>
      </p:sp>
      <p:cxnSp>
        <p:nvCxnSpPr>
          <p:cNvPr id="106" name="Google Shape;106;p6"/>
          <p:cNvCxnSpPr>
            <a:stCxn id="104" idx="1"/>
            <a:endCxn id="102" idx="2"/>
          </p:cNvCxnSpPr>
          <p:nvPr/>
        </p:nvCxnSpPr>
        <p:spPr>
          <a:xfrm>
            <a:off x="4572000" y="2832425"/>
            <a:ext cx="0" cy="2311200"/>
          </a:xfrm>
          <a:prstGeom prst="straightConnector1">
            <a:avLst/>
          </a:prstGeom>
          <a:noFill/>
          <a:ln cap="flat" cmpd="sng" w="9525">
            <a:solidFill>
              <a:schemeClr val="dk2"/>
            </a:solidFill>
            <a:prstDash val="solid"/>
            <a:round/>
            <a:headEnd len="sm" w="sm" type="none"/>
            <a:tailEnd len="sm" w="sm" type="none"/>
          </a:ln>
        </p:spPr>
      </p:cxnSp>
      <p:cxnSp>
        <p:nvCxnSpPr>
          <p:cNvPr id="107" name="Google Shape;107;p6"/>
          <p:cNvCxnSpPr/>
          <p:nvPr/>
        </p:nvCxnSpPr>
        <p:spPr>
          <a:xfrm>
            <a:off x="1400" y="3017125"/>
            <a:ext cx="4744500" cy="0"/>
          </a:xfrm>
          <a:prstGeom prst="straightConnector1">
            <a:avLst/>
          </a:prstGeom>
          <a:noFill/>
          <a:ln cap="flat" cmpd="sng" w="9525">
            <a:solidFill>
              <a:schemeClr val="dk2"/>
            </a:solidFill>
            <a:prstDash val="solid"/>
            <a:round/>
            <a:headEnd len="sm" w="sm" type="none"/>
            <a:tailEnd len="sm" w="sm" type="none"/>
          </a:ln>
        </p:spPr>
      </p:cxnSp>
      <p:sp>
        <p:nvSpPr>
          <p:cNvPr id="108" name="Google Shape;108;p6"/>
          <p:cNvSpPr txBox="1"/>
          <p:nvPr/>
        </p:nvSpPr>
        <p:spPr>
          <a:xfrm>
            <a:off x="438410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2</a:t>
            </a:r>
            <a:endParaRPr b="1" i="0" sz="1600" u="none" cap="none" strike="noStrike">
              <a:solidFill>
                <a:schemeClr val="dk1"/>
              </a:solidFill>
              <a:latin typeface="Arial"/>
              <a:ea typeface="Arial"/>
              <a:cs typeface="Arial"/>
              <a:sym typeface="Arial"/>
            </a:endParaRPr>
          </a:p>
        </p:txBody>
      </p:sp>
      <p:sp>
        <p:nvSpPr>
          <p:cNvPr id="109" name="Google Shape;109;p6"/>
          <p:cNvSpPr txBox="1"/>
          <p:nvPr/>
        </p:nvSpPr>
        <p:spPr>
          <a:xfrm>
            <a:off x="475970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3</a:t>
            </a:r>
            <a:endParaRPr b="1" i="0" sz="1600" u="none" cap="none" strike="noStrike">
              <a:solidFill>
                <a:schemeClr val="dk1"/>
              </a:solidFill>
              <a:latin typeface="Arial"/>
              <a:ea typeface="Arial"/>
              <a:cs typeface="Arial"/>
              <a:sym typeface="Arial"/>
            </a:endParaRPr>
          </a:p>
        </p:txBody>
      </p:sp>
      <p:sp>
        <p:nvSpPr>
          <p:cNvPr id="110" name="Google Shape;110;p6"/>
          <p:cNvSpPr txBox="1"/>
          <p:nvPr/>
        </p:nvSpPr>
        <p:spPr>
          <a:xfrm>
            <a:off x="513530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4</a:t>
            </a:r>
            <a:endParaRPr b="1" i="0" sz="1600" u="none" cap="none" strike="noStrike">
              <a:solidFill>
                <a:schemeClr val="dk1"/>
              </a:solidFill>
              <a:latin typeface="Arial"/>
              <a:ea typeface="Arial"/>
              <a:cs typeface="Arial"/>
              <a:sym typeface="Arial"/>
            </a:endParaRPr>
          </a:p>
        </p:txBody>
      </p:sp>
      <p:sp>
        <p:nvSpPr>
          <p:cNvPr id="111" name="Google Shape;111;p6"/>
          <p:cNvSpPr txBox="1"/>
          <p:nvPr/>
        </p:nvSpPr>
        <p:spPr>
          <a:xfrm>
            <a:off x="551090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5</a:t>
            </a:r>
            <a:endParaRPr b="1" i="0" sz="1600" u="none" cap="none" strike="noStrike">
              <a:solidFill>
                <a:schemeClr val="dk1"/>
              </a:solidFill>
              <a:latin typeface="Arial"/>
              <a:ea typeface="Arial"/>
              <a:cs typeface="Arial"/>
              <a:sym typeface="Arial"/>
            </a:endParaRPr>
          </a:p>
        </p:txBody>
      </p:sp>
      <p:sp>
        <p:nvSpPr>
          <p:cNvPr id="112" name="Google Shape;112;p6"/>
          <p:cNvSpPr txBox="1"/>
          <p:nvPr/>
        </p:nvSpPr>
        <p:spPr>
          <a:xfrm>
            <a:off x="588650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6</a:t>
            </a:r>
            <a:endParaRPr b="1" i="0" sz="1600" u="none" cap="none" strike="noStrike">
              <a:solidFill>
                <a:schemeClr val="dk1"/>
              </a:solidFill>
              <a:latin typeface="Arial"/>
              <a:ea typeface="Arial"/>
              <a:cs typeface="Arial"/>
              <a:sym typeface="Arial"/>
            </a:endParaRPr>
          </a:p>
        </p:txBody>
      </p:sp>
      <p:sp>
        <p:nvSpPr>
          <p:cNvPr id="113" name="Google Shape;113;p6"/>
          <p:cNvSpPr txBox="1"/>
          <p:nvPr/>
        </p:nvSpPr>
        <p:spPr>
          <a:xfrm>
            <a:off x="626210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7</a:t>
            </a:r>
            <a:endParaRPr b="1" i="0" sz="1600" u="none" cap="none" strike="noStrike">
              <a:solidFill>
                <a:schemeClr val="dk1"/>
              </a:solidFill>
              <a:latin typeface="Arial"/>
              <a:ea typeface="Arial"/>
              <a:cs typeface="Arial"/>
              <a:sym typeface="Arial"/>
            </a:endParaRPr>
          </a:p>
        </p:txBody>
      </p:sp>
      <p:sp>
        <p:nvSpPr>
          <p:cNvPr id="114" name="Google Shape;114;p6"/>
          <p:cNvSpPr txBox="1"/>
          <p:nvPr/>
        </p:nvSpPr>
        <p:spPr>
          <a:xfrm>
            <a:off x="663770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8</a:t>
            </a:r>
            <a:endParaRPr b="1" i="0" sz="16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Finding and Organizing the Information</a:t>
            </a:r>
            <a:r>
              <a:rPr b="1" baseline="30000" lang="en" u="sng">
                <a:solidFill>
                  <a:schemeClr val="accent5"/>
                </a:solidFill>
                <a:hlinkClick r:id="rId3">
                  <a:extLst>
                    <a:ext uri="{A12FA001-AC4F-418D-AE19-62706E023703}">
                      <ahyp:hlinkClr val="tx"/>
                    </a:ext>
                  </a:extLst>
                </a:hlinkClick>
              </a:rPr>
              <a:t>1</a:t>
            </a:r>
            <a:endParaRPr b="1"/>
          </a:p>
        </p:txBody>
      </p:sp>
      <p:sp>
        <p:nvSpPr>
          <p:cNvPr id="120" name="Google Shape;120;p7"/>
          <p:cNvSpPr txBox="1"/>
          <p:nvPr>
            <p:ph idx="1" type="body"/>
          </p:nvPr>
        </p:nvSpPr>
        <p:spPr>
          <a:xfrm>
            <a:off x="311700" y="1017725"/>
            <a:ext cx="8520600" cy="21612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lang="en">
                <a:solidFill>
                  <a:schemeClr val="dk1"/>
                </a:solidFill>
              </a:rPr>
              <a:t>Identify the information that is already present</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What data do I currently track or store?</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Consider use cases of your software</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What may my users or I use this software for? What data is needed for those use cases?</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Ask human questions about your scenario</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What would you like to learn about your data? What are you curious about?</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Don’t limit yourself</a:t>
            </a:r>
            <a:endParaRPr>
              <a:solidFill>
                <a:schemeClr val="dk1"/>
              </a:solidFill>
            </a:endParaRPr>
          </a:p>
        </p:txBody>
      </p:sp>
      <p:sp>
        <p:nvSpPr>
          <p:cNvPr id="121" name="Google Shape;121;p7"/>
          <p:cNvSpPr txBox="1"/>
          <p:nvPr/>
        </p:nvSpPr>
        <p:spPr>
          <a:xfrm>
            <a:off x="0" y="4835700"/>
            <a:ext cx="9144000" cy="307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0" baseline="30000" i="0" lang="en" sz="800" u="none" cap="none" strike="noStrike">
                <a:solidFill>
                  <a:srgbClr val="000000"/>
                </a:solidFill>
                <a:latin typeface="Arial"/>
                <a:ea typeface="Arial"/>
                <a:cs typeface="Arial"/>
                <a:sym typeface="Arial"/>
              </a:rPr>
              <a:t>1</a:t>
            </a:r>
            <a:r>
              <a:rPr b="0" i="0" lang="en" sz="800" u="none" cap="none" strike="noStrike">
                <a:solidFill>
                  <a:srgbClr val="000000"/>
                </a:solidFill>
                <a:latin typeface="Arial"/>
                <a:ea typeface="Arial"/>
                <a:cs typeface="Arial"/>
                <a:sym typeface="Arial"/>
              </a:rPr>
              <a:t> </a:t>
            </a:r>
            <a:r>
              <a:rPr b="0" i="0" lang="en" sz="800" u="sng" cap="none" strike="noStrike">
                <a:solidFill>
                  <a:schemeClr val="hlink"/>
                </a:solidFill>
                <a:latin typeface="Arial"/>
                <a:ea typeface="Arial"/>
                <a:cs typeface="Arial"/>
                <a:sym typeface="Arial"/>
                <a:hlinkClick r:id="rId4"/>
              </a:rPr>
              <a:t>Microsoft - DB Design Basics - The design process</a:t>
            </a:r>
            <a:endParaRPr b="0" i="0" sz="800" u="none" cap="none" strike="noStrike">
              <a:solidFill>
                <a:srgbClr val="000000"/>
              </a:solidFill>
              <a:latin typeface="Arial"/>
              <a:ea typeface="Arial"/>
              <a:cs typeface="Arial"/>
              <a:sym typeface="Arial"/>
            </a:endParaRPr>
          </a:p>
        </p:txBody>
      </p:sp>
      <p:sp>
        <p:nvSpPr>
          <p:cNvPr id="122" name="Google Shape;122;p7"/>
          <p:cNvSpPr txBox="1"/>
          <p:nvPr/>
        </p:nvSpPr>
        <p:spPr>
          <a:xfrm>
            <a:off x="1719411" y="3178925"/>
            <a:ext cx="22689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2400"/>
              <a:buFont typeface="Arial"/>
              <a:buNone/>
            </a:pPr>
            <a:r>
              <a:rPr b="1" i="0" lang="en" sz="2400" u="none" cap="none" strike="noStrike">
                <a:solidFill>
                  <a:schemeClr val="dk1"/>
                </a:solidFill>
                <a:latin typeface="Arial"/>
                <a:ea typeface="Arial"/>
                <a:cs typeface="Arial"/>
                <a:sym typeface="Arial"/>
              </a:rPr>
              <a:t>Find any data</a:t>
            </a:r>
            <a:endParaRPr b="0" i="0" sz="2400" u="none" cap="none" strike="noStrike">
              <a:solidFill>
                <a:srgbClr val="000000"/>
              </a:solidFill>
              <a:latin typeface="Arial"/>
              <a:ea typeface="Arial"/>
              <a:cs typeface="Arial"/>
              <a:sym typeface="Arial"/>
            </a:endParaRPr>
          </a:p>
        </p:txBody>
      </p:sp>
      <p:sp>
        <p:nvSpPr>
          <p:cNvPr id="123" name="Google Shape;123;p7"/>
          <p:cNvSpPr txBox="1"/>
          <p:nvPr/>
        </p:nvSpPr>
        <p:spPr>
          <a:xfrm>
            <a:off x="5155747" y="3178925"/>
            <a:ext cx="22689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2400"/>
              <a:buFont typeface="Arial"/>
              <a:buNone/>
            </a:pPr>
            <a:r>
              <a:rPr b="1" i="0" lang="en" sz="2400" u="none" cap="none" strike="noStrike">
                <a:solidFill>
                  <a:schemeClr val="dk1"/>
                </a:solidFill>
                <a:latin typeface="Arial"/>
                <a:ea typeface="Arial"/>
                <a:cs typeface="Arial"/>
                <a:sym typeface="Arial"/>
              </a:rPr>
              <a:t>Organize later</a:t>
            </a:r>
            <a:endParaRPr b="0" i="0" sz="2400" u="none" cap="none" strike="noStrike">
              <a:solidFill>
                <a:srgbClr val="000000"/>
              </a:solidFill>
              <a:latin typeface="Arial"/>
              <a:ea typeface="Arial"/>
              <a:cs typeface="Arial"/>
              <a:sym typeface="Arial"/>
            </a:endParaRPr>
          </a:p>
        </p:txBody>
      </p:sp>
      <p:sp>
        <p:nvSpPr>
          <p:cNvPr id="124" name="Google Shape;124;p7"/>
          <p:cNvSpPr/>
          <p:nvPr/>
        </p:nvSpPr>
        <p:spPr>
          <a:xfrm>
            <a:off x="4080025" y="3351725"/>
            <a:ext cx="984000" cy="208500"/>
          </a:xfrm>
          <a:prstGeom prst="rightArrow">
            <a:avLst>
              <a:gd fmla="val 50000" name="adj1"/>
              <a:gd fmla="val 50000" name="adj2"/>
            </a:avLst>
          </a:pr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7"/>
          <p:cNvSpPr/>
          <p:nvPr/>
        </p:nvSpPr>
        <p:spPr>
          <a:xfrm flipH="1" rot="10800000">
            <a:off x="2506300" y="-4100"/>
            <a:ext cx="2253300" cy="328800"/>
          </a:xfrm>
          <a:prstGeom prst="round2SameRect">
            <a:avLst>
              <a:gd fmla="val 16667" name="adj1"/>
              <a:gd fmla="val 0" name="adj2"/>
            </a:avLst>
          </a:prstGeom>
          <a:solidFill>
            <a:srgbClr val="36363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7"/>
          <p:cNvSpPr txBox="1"/>
          <p:nvPr/>
        </p:nvSpPr>
        <p:spPr>
          <a:xfrm>
            <a:off x="2509400" y="-60175"/>
            <a:ext cx="22503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Arial"/>
                <a:ea typeface="Arial"/>
                <a:cs typeface="Arial"/>
                <a:sym typeface="Arial"/>
              </a:rPr>
              <a:t>2 - Brainstorm Data</a:t>
            </a:r>
            <a:endParaRPr b="1" i="0" sz="1600" u="none" cap="none" strike="noStrike">
              <a:solidFill>
                <a:schemeClr val="dk1"/>
              </a:solidFill>
              <a:latin typeface="Arial"/>
              <a:ea typeface="Arial"/>
              <a:cs typeface="Arial"/>
              <a:sym typeface="Arial"/>
            </a:endParaRPr>
          </a:p>
        </p:txBody>
      </p:sp>
      <p:sp>
        <p:nvSpPr>
          <p:cNvPr id="127" name="Google Shape;127;p7"/>
          <p:cNvSpPr txBox="1"/>
          <p:nvPr/>
        </p:nvSpPr>
        <p:spPr>
          <a:xfrm>
            <a:off x="213060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1</a:t>
            </a:r>
            <a:endParaRPr b="1" i="0" sz="1600" u="none" cap="none" strike="noStrike">
              <a:solidFill>
                <a:schemeClr val="dk1"/>
              </a:solidFill>
              <a:latin typeface="Arial"/>
              <a:ea typeface="Arial"/>
              <a:cs typeface="Arial"/>
              <a:sym typeface="Arial"/>
            </a:endParaRPr>
          </a:p>
        </p:txBody>
      </p:sp>
      <p:sp>
        <p:nvSpPr>
          <p:cNvPr id="128" name="Google Shape;128;p7"/>
          <p:cNvSpPr txBox="1"/>
          <p:nvPr/>
        </p:nvSpPr>
        <p:spPr>
          <a:xfrm>
            <a:off x="475970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3</a:t>
            </a:r>
            <a:endParaRPr b="1" i="0" sz="1600" u="none" cap="none" strike="noStrike">
              <a:solidFill>
                <a:schemeClr val="dk1"/>
              </a:solidFill>
              <a:latin typeface="Arial"/>
              <a:ea typeface="Arial"/>
              <a:cs typeface="Arial"/>
              <a:sym typeface="Arial"/>
            </a:endParaRPr>
          </a:p>
        </p:txBody>
      </p:sp>
      <p:sp>
        <p:nvSpPr>
          <p:cNvPr id="129" name="Google Shape;129;p7"/>
          <p:cNvSpPr txBox="1"/>
          <p:nvPr/>
        </p:nvSpPr>
        <p:spPr>
          <a:xfrm>
            <a:off x="513530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4</a:t>
            </a:r>
            <a:endParaRPr b="1" i="0" sz="1600" u="none" cap="none" strike="noStrike">
              <a:solidFill>
                <a:schemeClr val="dk1"/>
              </a:solidFill>
              <a:latin typeface="Arial"/>
              <a:ea typeface="Arial"/>
              <a:cs typeface="Arial"/>
              <a:sym typeface="Arial"/>
            </a:endParaRPr>
          </a:p>
        </p:txBody>
      </p:sp>
      <p:sp>
        <p:nvSpPr>
          <p:cNvPr id="130" name="Google Shape;130;p7"/>
          <p:cNvSpPr txBox="1"/>
          <p:nvPr/>
        </p:nvSpPr>
        <p:spPr>
          <a:xfrm>
            <a:off x="551090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5</a:t>
            </a:r>
            <a:endParaRPr b="1" i="0" sz="1600" u="none" cap="none" strike="noStrike">
              <a:solidFill>
                <a:schemeClr val="dk1"/>
              </a:solidFill>
              <a:latin typeface="Arial"/>
              <a:ea typeface="Arial"/>
              <a:cs typeface="Arial"/>
              <a:sym typeface="Arial"/>
            </a:endParaRPr>
          </a:p>
        </p:txBody>
      </p:sp>
      <p:sp>
        <p:nvSpPr>
          <p:cNvPr id="131" name="Google Shape;131;p7"/>
          <p:cNvSpPr txBox="1"/>
          <p:nvPr/>
        </p:nvSpPr>
        <p:spPr>
          <a:xfrm>
            <a:off x="588650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6</a:t>
            </a:r>
            <a:endParaRPr b="1" i="0" sz="1600" u="none" cap="none" strike="noStrike">
              <a:solidFill>
                <a:schemeClr val="dk1"/>
              </a:solidFill>
              <a:latin typeface="Arial"/>
              <a:ea typeface="Arial"/>
              <a:cs typeface="Arial"/>
              <a:sym typeface="Arial"/>
            </a:endParaRPr>
          </a:p>
        </p:txBody>
      </p:sp>
      <p:sp>
        <p:nvSpPr>
          <p:cNvPr id="132" name="Google Shape;132;p7"/>
          <p:cNvSpPr txBox="1"/>
          <p:nvPr/>
        </p:nvSpPr>
        <p:spPr>
          <a:xfrm>
            <a:off x="626210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7</a:t>
            </a:r>
            <a:endParaRPr b="1" i="0" sz="1600" u="none" cap="none" strike="noStrike">
              <a:solidFill>
                <a:schemeClr val="dk1"/>
              </a:solidFill>
              <a:latin typeface="Arial"/>
              <a:ea typeface="Arial"/>
              <a:cs typeface="Arial"/>
              <a:sym typeface="Arial"/>
            </a:endParaRPr>
          </a:p>
        </p:txBody>
      </p:sp>
      <p:sp>
        <p:nvSpPr>
          <p:cNvPr id="133" name="Google Shape;133;p7"/>
          <p:cNvSpPr txBox="1"/>
          <p:nvPr/>
        </p:nvSpPr>
        <p:spPr>
          <a:xfrm>
            <a:off x="663770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8</a:t>
            </a:r>
            <a:endParaRPr b="1" i="0" sz="16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Group Information to determine Tables</a:t>
            </a:r>
            <a:r>
              <a:rPr b="1" baseline="30000" lang="en" u="sng">
                <a:solidFill>
                  <a:schemeClr val="accent5"/>
                </a:solidFill>
                <a:hlinkClick r:id="rId3">
                  <a:extLst>
                    <a:ext uri="{A12FA001-AC4F-418D-AE19-62706E023703}">
                      <ahyp:hlinkClr val="tx"/>
                    </a:ext>
                  </a:extLst>
                </a:hlinkClick>
              </a:rPr>
              <a:t>1</a:t>
            </a:r>
            <a:endParaRPr b="1"/>
          </a:p>
        </p:txBody>
      </p:sp>
      <p:sp>
        <p:nvSpPr>
          <p:cNvPr id="139" name="Google Shape;139;p8"/>
          <p:cNvSpPr txBox="1"/>
          <p:nvPr>
            <p:ph idx="1" type="body"/>
          </p:nvPr>
        </p:nvSpPr>
        <p:spPr>
          <a:xfrm>
            <a:off x="311700" y="1017725"/>
            <a:ext cx="8520600" cy="1911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lang="en">
                <a:solidFill>
                  <a:schemeClr val="dk1"/>
                </a:solidFill>
              </a:rPr>
              <a:t>Identify entities from your list of data ideas</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What data is actually a representation of a thing with many data fields?</a:t>
            </a:r>
            <a:endParaRPr>
              <a:solidFill>
                <a:schemeClr val="dk1"/>
              </a:solidFill>
            </a:endParaRPr>
          </a:p>
          <a:p>
            <a:pPr indent="0" lvl="0" marL="457200" rtl="0" algn="l">
              <a:lnSpc>
                <a:spcPct val="115000"/>
              </a:lnSpc>
              <a:spcBef>
                <a:spcPts val="1200"/>
              </a:spcBef>
              <a:spcAft>
                <a:spcPts val="0"/>
              </a:spcAft>
              <a:buSzPts val="1800"/>
              <a:buNone/>
            </a:pPr>
            <a:r>
              <a:rPr b="1" lang="en">
                <a:solidFill>
                  <a:schemeClr val="dk1"/>
                </a:solidFill>
              </a:rPr>
              <a:t>OR</a:t>
            </a:r>
            <a:endParaRPr b="1">
              <a:solidFill>
                <a:schemeClr val="dk1"/>
              </a:solidFill>
            </a:endParaRPr>
          </a:p>
          <a:p>
            <a:pPr indent="-342900" lvl="0" marL="457200" rtl="0" algn="l">
              <a:lnSpc>
                <a:spcPct val="115000"/>
              </a:lnSpc>
              <a:spcBef>
                <a:spcPts val="1200"/>
              </a:spcBef>
              <a:spcAft>
                <a:spcPts val="0"/>
              </a:spcAft>
              <a:buClr>
                <a:schemeClr val="dk1"/>
              </a:buClr>
              <a:buSzPts val="1800"/>
              <a:buChar char="●"/>
            </a:pPr>
            <a:r>
              <a:rPr lang="en">
                <a:solidFill>
                  <a:schemeClr val="dk1"/>
                </a:solidFill>
              </a:rPr>
              <a:t>Group smaller related fields into tables</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Are some of these fields individual properties? Can they be combined to create an entity?</a:t>
            </a:r>
            <a:endParaRPr>
              <a:solidFill>
                <a:schemeClr val="dk1"/>
              </a:solidFill>
            </a:endParaRPr>
          </a:p>
        </p:txBody>
      </p:sp>
      <p:sp>
        <p:nvSpPr>
          <p:cNvPr id="140" name="Google Shape;140;p8"/>
          <p:cNvSpPr txBox="1"/>
          <p:nvPr/>
        </p:nvSpPr>
        <p:spPr>
          <a:xfrm>
            <a:off x="0" y="4835700"/>
            <a:ext cx="9144000" cy="307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0" baseline="30000" i="0" lang="en" sz="800" u="none" cap="none" strike="noStrike">
                <a:solidFill>
                  <a:srgbClr val="000000"/>
                </a:solidFill>
                <a:latin typeface="Arial"/>
                <a:ea typeface="Arial"/>
                <a:cs typeface="Arial"/>
                <a:sym typeface="Arial"/>
              </a:rPr>
              <a:t>1</a:t>
            </a:r>
            <a:r>
              <a:rPr b="0" i="0" lang="en" sz="800" u="none" cap="none" strike="noStrike">
                <a:solidFill>
                  <a:srgbClr val="000000"/>
                </a:solidFill>
                <a:latin typeface="Arial"/>
                <a:ea typeface="Arial"/>
                <a:cs typeface="Arial"/>
                <a:sym typeface="Arial"/>
              </a:rPr>
              <a:t> </a:t>
            </a:r>
            <a:r>
              <a:rPr b="0" i="0" lang="en" sz="800" u="sng" cap="none" strike="noStrike">
                <a:solidFill>
                  <a:schemeClr val="hlink"/>
                </a:solidFill>
                <a:latin typeface="Arial"/>
                <a:ea typeface="Arial"/>
                <a:cs typeface="Arial"/>
                <a:sym typeface="Arial"/>
                <a:hlinkClick r:id="rId4"/>
              </a:rPr>
              <a:t>Microsoft - DB Design Basics - The design process</a:t>
            </a:r>
            <a:endParaRPr b="0" i="0" sz="800" u="none" cap="none" strike="noStrike">
              <a:solidFill>
                <a:srgbClr val="000000"/>
              </a:solidFill>
              <a:latin typeface="Arial"/>
              <a:ea typeface="Arial"/>
              <a:cs typeface="Arial"/>
              <a:sym typeface="Arial"/>
            </a:endParaRPr>
          </a:p>
        </p:txBody>
      </p:sp>
      <p:sp>
        <p:nvSpPr>
          <p:cNvPr id="141" name="Google Shape;141;p8"/>
          <p:cNvSpPr/>
          <p:nvPr/>
        </p:nvSpPr>
        <p:spPr>
          <a:xfrm flipH="1" rot="10800000">
            <a:off x="2881900" y="-4100"/>
            <a:ext cx="2253300" cy="328800"/>
          </a:xfrm>
          <a:prstGeom prst="round2SameRect">
            <a:avLst>
              <a:gd fmla="val 16667" name="adj1"/>
              <a:gd fmla="val 0" name="adj2"/>
            </a:avLst>
          </a:prstGeom>
          <a:solidFill>
            <a:srgbClr val="36363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8"/>
          <p:cNvSpPr txBox="1"/>
          <p:nvPr/>
        </p:nvSpPr>
        <p:spPr>
          <a:xfrm>
            <a:off x="2885000" y="-60175"/>
            <a:ext cx="22503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Arial"/>
                <a:ea typeface="Arial"/>
                <a:cs typeface="Arial"/>
                <a:sym typeface="Arial"/>
              </a:rPr>
              <a:t>3 - Identify Tables</a:t>
            </a:r>
            <a:endParaRPr b="1" i="0" sz="1600" u="none" cap="none" strike="noStrike">
              <a:solidFill>
                <a:schemeClr val="dk1"/>
              </a:solidFill>
              <a:latin typeface="Arial"/>
              <a:ea typeface="Arial"/>
              <a:cs typeface="Arial"/>
              <a:sym typeface="Arial"/>
            </a:endParaRPr>
          </a:p>
        </p:txBody>
      </p:sp>
      <p:sp>
        <p:nvSpPr>
          <p:cNvPr id="143" name="Google Shape;143;p8"/>
          <p:cNvSpPr txBox="1"/>
          <p:nvPr/>
        </p:nvSpPr>
        <p:spPr>
          <a:xfrm>
            <a:off x="21306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1</a:t>
            </a:r>
            <a:endParaRPr b="1" i="0" sz="1600" u="none" cap="none" strike="noStrike">
              <a:solidFill>
                <a:schemeClr val="dk1"/>
              </a:solidFill>
              <a:latin typeface="Arial"/>
              <a:ea typeface="Arial"/>
              <a:cs typeface="Arial"/>
              <a:sym typeface="Arial"/>
            </a:endParaRPr>
          </a:p>
        </p:txBody>
      </p:sp>
      <p:sp>
        <p:nvSpPr>
          <p:cNvPr id="144" name="Google Shape;144;p8"/>
          <p:cNvSpPr txBox="1"/>
          <p:nvPr/>
        </p:nvSpPr>
        <p:spPr>
          <a:xfrm>
            <a:off x="25062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2</a:t>
            </a:r>
            <a:endParaRPr b="1" i="0" sz="1600" u="none" cap="none" strike="noStrike">
              <a:solidFill>
                <a:schemeClr val="dk1"/>
              </a:solidFill>
              <a:latin typeface="Arial"/>
              <a:ea typeface="Arial"/>
              <a:cs typeface="Arial"/>
              <a:sym typeface="Arial"/>
            </a:endParaRPr>
          </a:p>
        </p:txBody>
      </p:sp>
      <p:sp>
        <p:nvSpPr>
          <p:cNvPr id="145" name="Google Shape;145;p8"/>
          <p:cNvSpPr txBox="1"/>
          <p:nvPr/>
        </p:nvSpPr>
        <p:spPr>
          <a:xfrm>
            <a:off x="51353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4</a:t>
            </a:r>
            <a:endParaRPr b="1" i="0" sz="1600" u="none" cap="none" strike="noStrike">
              <a:solidFill>
                <a:schemeClr val="dk1"/>
              </a:solidFill>
              <a:latin typeface="Arial"/>
              <a:ea typeface="Arial"/>
              <a:cs typeface="Arial"/>
              <a:sym typeface="Arial"/>
            </a:endParaRPr>
          </a:p>
        </p:txBody>
      </p:sp>
      <p:sp>
        <p:nvSpPr>
          <p:cNvPr id="146" name="Google Shape;146;p8"/>
          <p:cNvSpPr txBox="1"/>
          <p:nvPr/>
        </p:nvSpPr>
        <p:spPr>
          <a:xfrm>
            <a:off x="55109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5</a:t>
            </a:r>
            <a:endParaRPr b="1" i="0" sz="1600" u="none" cap="none" strike="noStrike">
              <a:solidFill>
                <a:schemeClr val="dk1"/>
              </a:solidFill>
              <a:latin typeface="Arial"/>
              <a:ea typeface="Arial"/>
              <a:cs typeface="Arial"/>
              <a:sym typeface="Arial"/>
            </a:endParaRPr>
          </a:p>
        </p:txBody>
      </p:sp>
      <p:sp>
        <p:nvSpPr>
          <p:cNvPr id="147" name="Google Shape;147;p8"/>
          <p:cNvSpPr txBox="1"/>
          <p:nvPr/>
        </p:nvSpPr>
        <p:spPr>
          <a:xfrm>
            <a:off x="58865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6</a:t>
            </a:r>
            <a:endParaRPr b="1" i="0" sz="1600" u="none" cap="none" strike="noStrike">
              <a:solidFill>
                <a:schemeClr val="dk1"/>
              </a:solidFill>
              <a:latin typeface="Arial"/>
              <a:ea typeface="Arial"/>
              <a:cs typeface="Arial"/>
              <a:sym typeface="Arial"/>
            </a:endParaRPr>
          </a:p>
        </p:txBody>
      </p:sp>
      <p:sp>
        <p:nvSpPr>
          <p:cNvPr id="148" name="Google Shape;148;p8"/>
          <p:cNvSpPr txBox="1"/>
          <p:nvPr/>
        </p:nvSpPr>
        <p:spPr>
          <a:xfrm>
            <a:off x="62621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7</a:t>
            </a:r>
            <a:endParaRPr b="1" i="0" sz="1600" u="none" cap="none" strike="noStrike">
              <a:solidFill>
                <a:schemeClr val="dk1"/>
              </a:solidFill>
              <a:latin typeface="Arial"/>
              <a:ea typeface="Arial"/>
              <a:cs typeface="Arial"/>
              <a:sym typeface="Arial"/>
            </a:endParaRPr>
          </a:p>
        </p:txBody>
      </p:sp>
      <p:sp>
        <p:nvSpPr>
          <p:cNvPr id="149" name="Google Shape;149;p8"/>
          <p:cNvSpPr txBox="1"/>
          <p:nvPr/>
        </p:nvSpPr>
        <p:spPr>
          <a:xfrm>
            <a:off x="66377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8</a:t>
            </a:r>
            <a:endParaRPr b="1" i="0" sz="16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9"/>
          <p:cNvSpPr txBox="1"/>
          <p:nvPr>
            <p:ph idx="1" type="body"/>
          </p:nvPr>
        </p:nvSpPr>
        <p:spPr>
          <a:xfrm>
            <a:off x="311700" y="1017725"/>
            <a:ext cx="8520600" cy="2028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lang="en">
                <a:solidFill>
                  <a:schemeClr val="dk1"/>
                </a:solidFill>
              </a:rPr>
              <a:t>With the entities identified, round out the table with other related fields</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What information in your list relates to the tables you’ve created?</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Refine your columns</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Are some of your fields heavy with information? </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Could you split them up into multiple columns?</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Data with multiple parts, like an address, can be stored in multiple columns instead of just 1</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Example: </a:t>
            </a:r>
            <a:endParaRPr>
              <a:solidFill>
                <a:schemeClr val="dk1"/>
              </a:solidFill>
            </a:endParaRPr>
          </a:p>
        </p:txBody>
      </p:sp>
      <p:sp>
        <p:nvSpPr>
          <p:cNvPr id="155" name="Google Shape;155;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Turn Information into Columns</a:t>
            </a:r>
            <a:r>
              <a:rPr b="1" baseline="30000" lang="en" u="sng">
                <a:solidFill>
                  <a:schemeClr val="accent5"/>
                </a:solidFill>
                <a:hlinkClick r:id="rId3">
                  <a:extLst>
                    <a:ext uri="{A12FA001-AC4F-418D-AE19-62706E023703}">
                      <ahyp:hlinkClr val="tx"/>
                    </a:ext>
                  </a:extLst>
                </a:hlinkClick>
              </a:rPr>
              <a:t>1</a:t>
            </a:r>
            <a:r>
              <a:rPr b="1" lang="en"/>
              <a:t> </a:t>
            </a:r>
            <a:endParaRPr b="1"/>
          </a:p>
        </p:txBody>
      </p:sp>
      <p:sp>
        <p:nvSpPr>
          <p:cNvPr id="156" name="Google Shape;156;p9"/>
          <p:cNvSpPr txBox="1"/>
          <p:nvPr/>
        </p:nvSpPr>
        <p:spPr>
          <a:xfrm>
            <a:off x="0" y="4835700"/>
            <a:ext cx="9144000" cy="307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0" baseline="30000" i="0" lang="en" sz="800" u="none" cap="none" strike="noStrike">
                <a:solidFill>
                  <a:srgbClr val="000000"/>
                </a:solidFill>
                <a:latin typeface="Arial"/>
                <a:ea typeface="Arial"/>
                <a:cs typeface="Arial"/>
                <a:sym typeface="Arial"/>
              </a:rPr>
              <a:t>1</a:t>
            </a:r>
            <a:r>
              <a:rPr b="0" i="0" lang="en" sz="800" u="none" cap="none" strike="noStrike">
                <a:solidFill>
                  <a:srgbClr val="000000"/>
                </a:solidFill>
                <a:latin typeface="Arial"/>
                <a:ea typeface="Arial"/>
                <a:cs typeface="Arial"/>
                <a:sym typeface="Arial"/>
              </a:rPr>
              <a:t> </a:t>
            </a:r>
            <a:r>
              <a:rPr b="0" i="0" lang="en" sz="800" u="sng" cap="none" strike="noStrike">
                <a:solidFill>
                  <a:schemeClr val="hlink"/>
                </a:solidFill>
                <a:latin typeface="Arial"/>
                <a:ea typeface="Arial"/>
                <a:cs typeface="Arial"/>
                <a:sym typeface="Arial"/>
                <a:hlinkClick r:id="rId4"/>
              </a:rPr>
              <a:t>Microsoft - DB Design Basics - The design process</a:t>
            </a:r>
            <a:endParaRPr b="0" i="0" sz="800" u="none" cap="none" strike="noStrike">
              <a:solidFill>
                <a:srgbClr val="000000"/>
              </a:solidFill>
              <a:latin typeface="Arial"/>
              <a:ea typeface="Arial"/>
              <a:cs typeface="Arial"/>
              <a:sym typeface="Arial"/>
            </a:endParaRPr>
          </a:p>
        </p:txBody>
      </p:sp>
      <p:graphicFrame>
        <p:nvGraphicFramePr>
          <p:cNvPr id="157" name="Google Shape;157;p9"/>
          <p:cNvGraphicFramePr/>
          <p:nvPr/>
        </p:nvGraphicFramePr>
        <p:xfrm>
          <a:off x="311688" y="3103018"/>
          <a:ext cx="3000000" cy="3000000"/>
        </p:xfrm>
        <a:graphic>
          <a:graphicData uri="http://schemas.openxmlformats.org/drawingml/2006/table">
            <a:tbl>
              <a:tblPr>
                <a:noFill/>
                <a:tableStyleId>{533CA182-6C86-4926-9E63-D3446429D139}</a:tableStyleId>
              </a:tblPr>
              <a:tblGrid>
                <a:gridCol w="3286675"/>
              </a:tblGrid>
              <a:tr h="204325">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latin typeface="Verdana"/>
                          <a:ea typeface="Verdana"/>
                          <a:cs typeface="Verdana"/>
                          <a:sym typeface="Verdana"/>
                        </a:rPr>
                        <a:t>address</a:t>
                      </a:r>
                      <a:endParaRPr b="1" sz="11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DDDFF"/>
                    </a:solidFill>
                  </a:tcPr>
                </a:tc>
              </a:tr>
              <a:tr h="230100">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rPr>
                        <a:t>205 Humber College Blvd, Etobicoke, ON M9W 5L7</a:t>
                      </a:r>
                      <a:endParaRPr sz="11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bl>
          </a:graphicData>
        </a:graphic>
      </p:graphicFrame>
      <p:graphicFrame>
        <p:nvGraphicFramePr>
          <p:cNvPr id="158" name="Google Shape;158;p9"/>
          <p:cNvGraphicFramePr/>
          <p:nvPr/>
        </p:nvGraphicFramePr>
        <p:xfrm>
          <a:off x="4263938" y="3103018"/>
          <a:ext cx="3000000" cy="3000000"/>
        </p:xfrm>
        <a:graphic>
          <a:graphicData uri="http://schemas.openxmlformats.org/drawingml/2006/table">
            <a:tbl>
              <a:tblPr>
                <a:noFill/>
                <a:tableStyleId>{533CA182-6C86-4926-9E63-D3446429D139}</a:tableStyleId>
              </a:tblPr>
              <a:tblGrid>
                <a:gridCol w="691300"/>
                <a:gridCol w="1407450"/>
                <a:gridCol w="696600"/>
                <a:gridCol w="745200"/>
                <a:gridCol w="1027800"/>
              </a:tblGrid>
              <a:tr h="204325">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latin typeface="Verdana"/>
                          <a:ea typeface="Verdana"/>
                          <a:cs typeface="Verdana"/>
                          <a:sym typeface="Verdana"/>
                        </a:rPr>
                        <a:t>number</a:t>
                      </a:r>
                      <a:endParaRPr b="1" sz="11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DDDFF"/>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latin typeface="Verdana"/>
                          <a:ea typeface="Verdana"/>
                          <a:cs typeface="Verdana"/>
                          <a:sym typeface="Verdana"/>
                        </a:rPr>
                        <a:t>name</a:t>
                      </a:r>
                      <a:endParaRPr b="1" sz="11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DDDFF"/>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latin typeface="Verdana"/>
                          <a:ea typeface="Verdana"/>
                          <a:cs typeface="Verdana"/>
                          <a:sym typeface="Verdana"/>
                        </a:rPr>
                        <a:t>city</a:t>
                      </a:r>
                      <a:endParaRPr b="1" sz="11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DDDFF"/>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latin typeface="Verdana"/>
                          <a:ea typeface="Verdana"/>
                          <a:cs typeface="Verdana"/>
                          <a:sym typeface="Verdana"/>
                        </a:rPr>
                        <a:t>province</a:t>
                      </a:r>
                      <a:endParaRPr b="1" sz="11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DDDFF"/>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latin typeface="Verdana"/>
                          <a:ea typeface="Verdana"/>
                          <a:cs typeface="Verdana"/>
                          <a:sym typeface="Verdana"/>
                        </a:rPr>
                        <a:t>postal_code</a:t>
                      </a:r>
                      <a:endParaRPr b="1" sz="11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DDDFF"/>
                    </a:solidFill>
                  </a:tcPr>
                </a:tc>
              </a:tr>
              <a:tr h="230100">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rPr>
                        <a:t>205</a:t>
                      </a:r>
                      <a:endParaRPr sz="11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n" sz="1100" u="none" cap="none" strike="noStrike">
                          <a:solidFill>
                            <a:schemeClr val="dk1"/>
                          </a:solidFill>
                        </a:rPr>
                        <a:t>Humber College Blvd</a:t>
                      </a:r>
                      <a:endParaRPr sz="1100" u="none" cap="none" strike="noStrike">
                        <a:solidFill>
                          <a:schemeClr val="dk1"/>
                        </a:solidFill>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n" sz="1100" u="none" cap="none" strike="noStrike">
                          <a:solidFill>
                            <a:schemeClr val="dk1"/>
                          </a:solidFill>
                        </a:rPr>
                        <a:t>Etobicoke</a:t>
                      </a:r>
                      <a:endParaRPr sz="1100" u="none" cap="none" strike="noStrike">
                        <a:solidFill>
                          <a:schemeClr val="dk1"/>
                        </a:solidFill>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n" sz="1100" u="none" cap="none" strike="noStrike">
                          <a:solidFill>
                            <a:schemeClr val="dk1"/>
                          </a:solidFill>
                        </a:rPr>
                        <a:t>ON</a:t>
                      </a:r>
                      <a:endParaRPr sz="1100" u="none" cap="none" strike="noStrike">
                        <a:solidFill>
                          <a:schemeClr val="dk1"/>
                        </a:solidFill>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n" sz="1100" u="none" cap="none" strike="noStrike">
                          <a:solidFill>
                            <a:schemeClr val="dk1"/>
                          </a:solidFill>
                        </a:rPr>
                        <a:t>M9W 5L7</a:t>
                      </a:r>
                      <a:endParaRPr sz="1100" u="none" cap="none" strike="noStrike">
                        <a:solidFill>
                          <a:schemeClr val="dk1"/>
                        </a:solidFill>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bl>
          </a:graphicData>
        </a:graphic>
      </p:graphicFrame>
      <p:sp>
        <p:nvSpPr>
          <p:cNvPr id="159" name="Google Shape;159;p9"/>
          <p:cNvSpPr/>
          <p:nvPr/>
        </p:nvSpPr>
        <p:spPr>
          <a:xfrm>
            <a:off x="3759113" y="3293912"/>
            <a:ext cx="344100" cy="132900"/>
          </a:xfrm>
          <a:prstGeom prst="rightArrow">
            <a:avLst>
              <a:gd fmla="val 50000" name="adj1"/>
              <a:gd fmla="val 50000" name="adj2"/>
            </a:avLst>
          </a:pr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9"/>
          <p:cNvSpPr txBox="1"/>
          <p:nvPr/>
        </p:nvSpPr>
        <p:spPr>
          <a:xfrm>
            <a:off x="311700" y="3648038"/>
            <a:ext cx="8520600" cy="9666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chemeClr val="dk1"/>
              </a:buClr>
              <a:buSzPts val="1800"/>
              <a:buFont typeface="Arial"/>
              <a:buChar char="●"/>
            </a:pPr>
            <a:r>
              <a:rPr b="0" i="0" lang="en" sz="1800" u="none" cap="none" strike="noStrike">
                <a:solidFill>
                  <a:schemeClr val="dk1"/>
                </a:solidFill>
                <a:latin typeface="Arial"/>
                <a:ea typeface="Arial"/>
                <a:cs typeface="Arial"/>
                <a:sym typeface="Arial"/>
              </a:rPr>
              <a:t>Don’t include calculated data</a:t>
            </a:r>
            <a:endParaRPr b="0" i="0" sz="1800" u="none" cap="none" strike="noStrike">
              <a:solidFill>
                <a:schemeClr val="dk1"/>
              </a:solidFill>
              <a:latin typeface="Arial"/>
              <a:ea typeface="Arial"/>
              <a:cs typeface="Arial"/>
              <a:sym typeface="Arial"/>
            </a:endParaRPr>
          </a:p>
          <a:p>
            <a:pPr indent="-317500" lvl="1" marL="914400" marR="0" rtl="0" algn="l">
              <a:lnSpc>
                <a:spcPct val="115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Data that could be counted, sumed, averaged, or calculated in any way are typically too dynamic to be stored. It is best to calculate this information using SQL queries when needed.</a:t>
            </a:r>
            <a:endParaRPr b="0" i="0" sz="1400" u="none" cap="none" strike="noStrike">
              <a:solidFill>
                <a:schemeClr val="dk1"/>
              </a:solidFill>
              <a:latin typeface="Arial"/>
              <a:ea typeface="Arial"/>
              <a:cs typeface="Arial"/>
              <a:sym typeface="Arial"/>
            </a:endParaRPr>
          </a:p>
        </p:txBody>
      </p:sp>
      <p:sp>
        <p:nvSpPr>
          <p:cNvPr id="161" name="Google Shape;161;p9"/>
          <p:cNvSpPr/>
          <p:nvPr/>
        </p:nvSpPr>
        <p:spPr>
          <a:xfrm flipH="1" rot="10800000">
            <a:off x="3257500" y="-4100"/>
            <a:ext cx="2253300" cy="328800"/>
          </a:xfrm>
          <a:prstGeom prst="round2SameRect">
            <a:avLst>
              <a:gd fmla="val 16667" name="adj1"/>
              <a:gd fmla="val 0" name="adj2"/>
            </a:avLst>
          </a:prstGeom>
          <a:solidFill>
            <a:srgbClr val="36363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9"/>
          <p:cNvSpPr txBox="1"/>
          <p:nvPr/>
        </p:nvSpPr>
        <p:spPr>
          <a:xfrm>
            <a:off x="3260600" y="-60175"/>
            <a:ext cx="22503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Arial"/>
                <a:ea typeface="Arial"/>
                <a:cs typeface="Arial"/>
                <a:sym typeface="Arial"/>
              </a:rPr>
              <a:t>4 - Create Columns</a:t>
            </a:r>
            <a:endParaRPr b="1" i="0" sz="1600" u="none" cap="none" strike="noStrike">
              <a:solidFill>
                <a:schemeClr val="dk1"/>
              </a:solidFill>
              <a:latin typeface="Arial"/>
              <a:ea typeface="Arial"/>
              <a:cs typeface="Arial"/>
              <a:sym typeface="Arial"/>
            </a:endParaRPr>
          </a:p>
        </p:txBody>
      </p:sp>
      <p:sp>
        <p:nvSpPr>
          <p:cNvPr id="163" name="Google Shape;163;p9"/>
          <p:cNvSpPr txBox="1"/>
          <p:nvPr/>
        </p:nvSpPr>
        <p:spPr>
          <a:xfrm>
            <a:off x="21306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1</a:t>
            </a:r>
            <a:endParaRPr b="1" i="0" sz="1600" u="none" cap="none" strike="noStrike">
              <a:solidFill>
                <a:schemeClr val="dk1"/>
              </a:solidFill>
              <a:latin typeface="Arial"/>
              <a:ea typeface="Arial"/>
              <a:cs typeface="Arial"/>
              <a:sym typeface="Arial"/>
            </a:endParaRPr>
          </a:p>
        </p:txBody>
      </p:sp>
      <p:sp>
        <p:nvSpPr>
          <p:cNvPr id="164" name="Google Shape;164;p9"/>
          <p:cNvSpPr txBox="1"/>
          <p:nvPr/>
        </p:nvSpPr>
        <p:spPr>
          <a:xfrm>
            <a:off x="25062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2</a:t>
            </a:r>
            <a:endParaRPr b="1" i="0" sz="1600" u="none" cap="none" strike="noStrike">
              <a:solidFill>
                <a:schemeClr val="dk1"/>
              </a:solidFill>
              <a:latin typeface="Arial"/>
              <a:ea typeface="Arial"/>
              <a:cs typeface="Arial"/>
              <a:sym typeface="Arial"/>
            </a:endParaRPr>
          </a:p>
        </p:txBody>
      </p:sp>
      <p:sp>
        <p:nvSpPr>
          <p:cNvPr id="165" name="Google Shape;165;p9"/>
          <p:cNvSpPr txBox="1"/>
          <p:nvPr/>
        </p:nvSpPr>
        <p:spPr>
          <a:xfrm>
            <a:off x="28818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3</a:t>
            </a:r>
            <a:endParaRPr b="1" i="0" sz="1600" u="none" cap="none" strike="noStrike">
              <a:solidFill>
                <a:schemeClr val="dk1"/>
              </a:solidFill>
              <a:latin typeface="Arial"/>
              <a:ea typeface="Arial"/>
              <a:cs typeface="Arial"/>
              <a:sym typeface="Arial"/>
            </a:endParaRPr>
          </a:p>
        </p:txBody>
      </p:sp>
      <p:sp>
        <p:nvSpPr>
          <p:cNvPr id="166" name="Google Shape;166;p9"/>
          <p:cNvSpPr txBox="1"/>
          <p:nvPr/>
        </p:nvSpPr>
        <p:spPr>
          <a:xfrm>
            <a:off x="55109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5</a:t>
            </a:r>
            <a:endParaRPr b="1" i="0" sz="1600" u="none" cap="none" strike="noStrike">
              <a:solidFill>
                <a:schemeClr val="dk1"/>
              </a:solidFill>
              <a:latin typeface="Arial"/>
              <a:ea typeface="Arial"/>
              <a:cs typeface="Arial"/>
              <a:sym typeface="Arial"/>
            </a:endParaRPr>
          </a:p>
        </p:txBody>
      </p:sp>
      <p:sp>
        <p:nvSpPr>
          <p:cNvPr id="167" name="Google Shape;167;p9"/>
          <p:cNvSpPr txBox="1"/>
          <p:nvPr/>
        </p:nvSpPr>
        <p:spPr>
          <a:xfrm>
            <a:off x="58865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6</a:t>
            </a:r>
            <a:endParaRPr b="1" i="0" sz="1600" u="none" cap="none" strike="noStrike">
              <a:solidFill>
                <a:schemeClr val="dk1"/>
              </a:solidFill>
              <a:latin typeface="Arial"/>
              <a:ea typeface="Arial"/>
              <a:cs typeface="Arial"/>
              <a:sym typeface="Arial"/>
            </a:endParaRPr>
          </a:p>
        </p:txBody>
      </p:sp>
      <p:sp>
        <p:nvSpPr>
          <p:cNvPr id="168" name="Google Shape;168;p9"/>
          <p:cNvSpPr txBox="1"/>
          <p:nvPr/>
        </p:nvSpPr>
        <p:spPr>
          <a:xfrm>
            <a:off x="62621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7</a:t>
            </a:r>
            <a:endParaRPr b="1" i="0" sz="1600" u="none" cap="none" strike="noStrike">
              <a:solidFill>
                <a:schemeClr val="dk1"/>
              </a:solidFill>
              <a:latin typeface="Arial"/>
              <a:ea typeface="Arial"/>
              <a:cs typeface="Arial"/>
              <a:sym typeface="Arial"/>
            </a:endParaRPr>
          </a:p>
        </p:txBody>
      </p:sp>
      <p:sp>
        <p:nvSpPr>
          <p:cNvPr id="169" name="Google Shape;169;p9"/>
          <p:cNvSpPr txBox="1"/>
          <p:nvPr/>
        </p:nvSpPr>
        <p:spPr>
          <a:xfrm>
            <a:off x="66377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8</a:t>
            </a:r>
            <a:endParaRPr b="1" i="0" sz="16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0"/>
          <p:cNvSpPr txBox="1"/>
          <p:nvPr>
            <p:ph idx="1" type="body"/>
          </p:nvPr>
        </p:nvSpPr>
        <p:spPr>
          <a:xfrm>
            <a:off x="311700" y="1017725"/>
            <a:ext cx="8520600" cy="10989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lang="en">
                <a:solidFill>
                  <a:schemeClr val="dk1"/>
                </a:solidFill>
              </a:rPr>
              <a:t>There are 3 main data type categories in MySQL</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Every column in SQL must be declared with a type from these 3 categories</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The common types are listed here, descriptions are on the following slides</a:t>
            </a:r>
            <a:endParaRPr>
              <a:solidFill>
                <a:schemeClr val="dk1"/>
              </a:solidFill>
            </a:endParaRPr>
          </a:p>
        </p:txBody>
      </p:sp>
      <p:sp>
        <p:nvSpPr>
          <p:cNvPr id="175" name="Google Shape;175;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Column Data Types</a:t>
            </a:r>
            <a:r>
              <a:rPr b="1" baseline="30000" lang="en" u="sng">
                <a:solidFill>
                  <a:schemeClr val="hlink"/>
                </a:solidFill>
                <a:hlinkClick r:id="rId3"/>
              </a:rPr>
              <a:t>1</a:t>
            </a:r>
            <a:endParaRPr b="1" baseline="30000"/>
          </a:p>
        </p:txBody>
      </p:sp>
      <p:sp>
        <p:nvSpPr>
          <p:cNvPr id="176" name="Google Shape;176;p10"/>
          <p:cNvSpPr txBox="1"/>
          <p:nvPr/>
        </p:nvSpPr>
        <p:spPr>
          <a:xfrm>
            <a:off x="0" y="4835700"/>
            <a:ext cx="9144000" cy="307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0" baseline="30000" i="0" lang="en" sz="800" u="none" cap="none" strike="noStrike">
                <a:solidFill>
                  <a:srgbClr val="000000"/>
                </a:solidFill>
                <a:latin typeface="Arial"/>
                <a:ea typeface="Arial"/>
                <a:cs typeface="Arial"/>
                <a:sym typeface="Arial"/>
              </a:rPr>
              <a:t>1</a:t>
            </a:r>
            <a:r>
              <a:rPr b="0" i="0" lang="en" sz="800" u="none" cap="none" strike="noStrike">
                <a:solidFill>
                  <a:srgbClr val="000000"/>
                </a:solidFill>
                <a:latin typeface="Arial"/>
                <a:ea typeface="Arial"/>
                <a:cs typeface="Arial"/>
                <a:sym typeface="Arial"/>
              </a:rPr>
              <a:t> </a:t>
            </a:r>
            <a:r>
              <a:rPr b="0" i="0" lang="en" sz="800" u="sng" cap="none" strike="noStrike">
                <a:solidFill>
                  <a:schemeClr val="hlink"/>
                </a:solidFill>
                <a:latin typeface="Arial"/>
                <a:ea typeface="Arial"/>
                <a:cs typeface="Arial"/>
                <a:sym typeface="Arial"/>
                <a:hlinkClick r:id="rId4"/>
              </a:rPr>
              <a:t>W3Schools - MySQL Data Types</a:t>
            </a:r>
            <a:endParaRPr b="0" i="0" sz="800" u="none" cap="none" strike="noStrike">
              <a:solidFill>
                <a:srgbClr val="000000"/>
              </a:solidFill>
              <a:latin typeface="Arial"/>
              <a:ea typeface="Arial"/>
              <a:cs typeface="Arial"/>
              <a:sym typeface="Arial"/>
            </a:endParaRPr>
          </a:p>
        </p:txBody>
      </p:sp>
      <p:sp>
        <p:nvSpPr>
          <p:cNvPr id="177" name="Google Shape;177;p10"/>
          <p:cNvSpPr txBox="1"/>
          <p:nvPr/>
        </p:nvSpPr>
        <p:spPr>
          <a:xfrm>
            <a:off x="311700" y="211662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1" i="0" lang="en" sz="1800" u="none" cap="none" strike="noStrike">
                <a:solidFill>
                  <a:schemeClr val="dk1"/>
                </a:solidFill>
                <a:latin typeface="Arial"/>
                <a:ea typeface="Arial"/>
                <a:cs typeface="Arial"/>
                <a:sym typeface="Arial"/>
              </a:rPr>
              <a:t>String Types</a:t>
            </a:r>
            <a:endParaRPr b="1" i="0" sz="1400" u="none" cap="none" strike="noStrike">
              <a:solidFill>
                <a:srgbClr val="000000"/>
              </a:solidFill>
              <a:latin typeface="Arial"/>
              <a:ea typeface="Arial"/>
              <a:cs typeface="Arial"/>
              <a:sym typeface="Arial"/>
            </a:endParaRPr>
          </a:p>
        </p:txBody>
      </p:sp>
      <p:sp>
        <p:nvSpPr>
          <p:cNvPr id="178" name="Google Shape;178;p10"/>
          <p:cNvSpPr txBox="1"/>
          <p:nvPr/>
        </p:nvSpPr>
        <p:spPr>
          <a:xfrm>
            <a:off x="3072000" y="211662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1" i="0" lang="en" sz="1800" u="none" cap="none" strike="noStrike">
                <a:solidFill>
                  <a:schemeClr val="dk1"/>
                </a:solidFill>
                <a:latin typeface="Arial"/>
                <a:ea typeface="Arial"/>
                <a:cs typeface="Arial"/>
                <a:sym typeface="Arial"/>
              </a:rPr>
              <a:t>Number Types</a:t>
            </a:r>
            <a:endParaRPr b="1" i="0" sz="1400" u="none" cap="none" strike="noStrike">
              <a:solidFill>
                <a:srgbClr val="000000"/>
              </a:solidFill>
              <a:latin typeface="Arial"/>
              <a:ea typeface="Arial"/>
              <a:cs typeface="Arial"/>
              <a:sym typeface="Arial"/>
            </a:endParaRPr>
          </a:p>
        </p:txBody>
      </p:sp>
      <p:sp>
        <p:nvSpPr>
          <p:cNvPr id="179" name="Google Shape;179;p10"/>
          <p:cNvSpPr txBox="1"/>
          <p:nvPr/>
        </p:nvSpPr>
        <p:spPr>
          <a:xfrm>
            <a:off x="5832300" y="211662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1" i="0" lang="en" sz="1800" u="none" cap="none" strike="noStrike">
                <a:solidFill>
                  <a:schemeClr val="dk1"/>
                </a:solidFill>
                <a:latin typeface="Arial"/>
                <a:ea typeface="Arial"/>
                <a:cs typeface="Arial"/>
                <a:sym typeface="Arial"/>
              </a:rPr>
              <a:t>Date/Time Types</a:t>
            </a:r>
            <a:endParaRPr b="1" i="0" sz="1400" u="none" cap="none" strike="noStrike">
              <a:solidFill>
                <a:srgbClr val="000000"/>
              </a:solidFill>
              <a:latin typeface="Arial"/>
              <a:ea typeface="Arial"/>
              <a:cs typeface="Arial"/>
              <a:sym typeface="Arial"/>
            </a:endParaRPr>
          </a:p>
        </p:txBody>
      </p:sp>
      <p:sp>
        <p:nvSpPr>
          <p:cNvPr id="180" name="Google Shape;180;p10"/>
          <p:cNvSpPr txBox="1"/>
          <p:nvPr/>
        </p:nvSpPr>
        <p:spPr>
          <a:xfrm>
            <a:off x="311700" y="2578325"/>
            <a:ext cx="156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VARCHAR</a:t>
            </a:r>
            <a:r>
              <a:rPr b="0" i="0" lang="en" sz="1400" u="none" cap="none" strike="noStrike">
                <a:solidFill>
                  <a:schemeClr val="dk1"/>
                </a:solidFill>
                <a:latin typeface="Arial"/>
                <a:ea typeface="Arial"/>
                <a:cs typeface="Arial"/>
                <a:sym typeface="Arial"/>
              </a:rPr>
              <a:t>(</a:t>
            </a:r>
            <a:r>
              <a:rPr b="0" i="1" lang="en" sz="1400" u="none" cap="none" strike="noStrike">
                <a:solidFill>
                  <a:schemeClr val="dk1"/>
                </a:solidFill>
                <a:latin typeface="Arial"/>
                <a:ea typeface="Arial"/>
                <a:cs typeface="Arial"/>
                <a:sym typeface="Arial"/>
              </a:rPr>
              <a:t>size</a:t>
            </a:r>
            <a:r>
              <a:rPr b="0" i="0" lang="en"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81" name="Google Shape;181;p10"/>
          <p:cNvSpPr txBox="1"/>
          <p:nvPr/>
        </p:nvSpPr>
        <p:spPr>
          <a:xfrm>
            <a:off x="311700" y="297852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CHAR</a:t>
            </a:r>
            <a:r>
              <a:rPr b="0" i="0" lang="en" sz="1400" u="none" cap="none" strike="noStrike">
                <a:solidFill>
                  <a:schemeClr val="dk1"/>
                </a:solidFill>
                <a:latin typeface="Arial"/>
                <a:ea typeface="Arial"/>
                <a:cs typeface="Arial"/>
                <a:sym typeface="Arial"/>
              </a:rPr>
              <a:t>(</a:t>
            </a:r>
            <a:r>
              <a:rPr b="0" i="1" lang="en" sz="1400" u="none" cap="none" strike="noStrike">
                <a:solidFill>
                  <a:schemeClr val="dk1"/>
                </a:solidFill>
                <a:latin typeface="Arial"/>
                <a:ea typeface="Arial"/>
                <a:cs typeface="Arial"/>
                <a:sym typeface="Arial"/>
              </a:rPr>
              <a:t>size</a:t>
            </a: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p:txBody>
      </p:sp>
      <p:sp>
        <p:nvSpPr>
          <p:cNvPr id="182" name="Google Shape;182;p10"/>
          <p:cNvSpPr txBox="1"/>
          <p:nvPr/>
        </p:nvSpPr>
        <p:spPr>
          <a:xfrm>
            <a:off x="311700" y="337872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ENUM</a:t>
            </a:r>
            <a:r>
              <a:rPr b="0" i="0" lang="en" sz="1400" u="none" cap="none" strike="noStrike">
                <a:solidFill>
                  <a:schemeClr val="dk1"/>
                </a:solidFill>
                <a:latin typeface="Arial"/>
                <a:ea typeface="Arial"/>
                <a:cs typeface="Arial"/>
                <a:sym typeface="Arial"/>
              </a:rPr>
              <a:t>(</a:t>
            </a:r>
            <a:r>
              <a:rPr b="0" i="1" lang="en" sz="1400" u="none" cap="none" strike="noStrike">
                <a:solidFill>
                  <a:schemeClr val="dk1"/>
                </a:solidFill>
                <a:latin typeface="Arial"/>
                <a:ea typeface="Arial"/>
                <a:cs typeface="Arial"/>
                <a:sym typeface="Arial"/>
              </a:rPr>
              <a:t>val1, val2, val3, ...</a:t>
            </a: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p:txBody>
      </p:sp>
      <p:sp>
        <p:nvSpPr>
          <p:cNvPr id="183" name="Google Shape;183;p10"/>
          <p:cNvSpPr txBox="1"/>
          <p:nvPr/>
        </p:nvSpPr>
        <p:spPr>
          <a:xfrm>
            <a:off x="3072000" y="2578325"/>
            <a:ext cx="156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INT</a:t>
            </a:r>
            <a:r>
              <a:rPr b="0" i="0" lang="en" sz="1400" u="none" cap="none" strike="noStrike">
                <a:solidFill>
                  <a:schemeClr val="dk1"/>
                </a:solidFill>
                <a:latin typeface="Arial"/>
                <a:ea typeface="Arial"/>
                <a:cs typeface="Arial"/>
                <a:sym typeface="Arial"/>
              </a:rPr>
              <a:t>(</a:t>
            </a:r>
            <a:r>
              <a:rPr b="0" i="1" lang="en" sz="1400" u="none" cap="none" strike="noStrike">
                <a:solidFill>
                  <a:schemeClr val="dk1"/>
                </a:solidFill>
                <a:latin typeface="Arial"/>
                <a:ea typeface="Arial"/>
                <a:cs typeface="Arial"/>
                <a:sym typeface="Arial"/>
              </a:rPr>
              <a:t>size</a:t>
            </a:r>
            <a:r>
              <a:rPr b="0" i="0" lang="en"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84" name="Google Shape;184;p10"/>
          <p:cNvSpPr txBox="1"/>
          <p:nvPr/>
        </p:nvSpPr>
        <p:spPr>
          <a:xfrm>
            <a:off x="3072000" y="297852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DECIMAL</a:t>
            </a:r>
            <a:r>
              <a:rPr b="0" i="0" lang="en" sz="1400" u="none" cap="none" strike="noStrike">
                <a:solidFill>
                  <a:schemeClr val="dk1"/>
                </a:solidFill>
                <a:latin typeface="Arial"/>
                <a:ea typeface="Arial"/>
                <a:cs typeface="Arial"/>
                <a:sym typeface="Arial"/>
              </a:rPr>
              <a:t>(</a:t>
            </a:r>
            <a:r>
              <a:rPr b="0" i="1" lang="en" sz="1400" u="none" cap="none" strike="noStrike">
                <a:solidFill>
                  <a:schemeClr val="dk1"/>
                </a:solidFill>
                <a:latin typeface="Arial"/>
                <a:ea typeface="Arial"/>
                <a:cs typeface="Arial"/>
                <a:sym typeface="Arial"/>
              </a:rPr>
              <a:t>size, d</a:t>
            </a: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p:txBody>
      </p:sp>
      <p:sp>
        <p:nvSpPr>
          <p:cNvPr id="185" name="Google Shape;185;p10"/>
          <p:cNvSpPr txBox="1"/>
          <p:nvPr/>
        </p:nvSpPr>
        <p:spPr>
          <a:xfrm>
            <a:off x="3072000" y="3778913"/>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BOOL</a:t>
            </a:r>
            <a:endParaRPr b="0" i="0" sz="1400" u="none" cap="none" strike="noStrike">
              <a:solidFill>
                <a:schemeClr val="dk1"/>
              </a:solidFill>
              <a:latin typeface="Arial"/>
              <a:ea typeface="Arial"/>
              <a:cs typeface="Arial"/>
              <a:sym typeface="Arial"/>
            </a:endParaRPr>
          </a:p>
        </p:txBody>
      </p:sp>
      <p:sp>
        <p:nvSpPr>
          <p:cNvPr id="186" name="Google Shape;186;p10"/>
          <p:cNvSpPr txBox="1"/>
          <p:nvPr/>
        </p:nvSpPr>
        <p:spPr>
          <a:xfrm>
            <a:off x="3072000" y="3378713"/>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FLOAT</a:t>
            </a:r>
            <a:r>
              <a:rPr b="0" i="0" lang="en" sz="1400" u="none" cap="none" strike="noStrike">
                <a:solidFill>
                  <a:schemeClr val="dk1"/>
                </a:solidFill>
                <a:latin typeface="Arial"/>
                <a:ea typeface="Arial"/>
                <a:cs typeface="Arial"/>
                <a:sym typeface="Arial"/>
              </a:rPr>
              <a:t>(</a:t>
            </a:r>
            <a:r>
              <a:rPr b="0" i="1" lang="en" sz="1400" u="none" cap="none" strike="noStrike">
                <a:solidFill>
                  <a:schemeClr val="dk1"/>
                </a:solidFill>
                <a:latin typeface="Arial"/>
                <a:ea typeface="Arial"/>
                <a:cs typeface="Arial"/>
                <a:sym typeface="Arial"/>
              </a:rPr>
              <a:t>size, d</a:t>
            </a: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p:txBody>
      </p:sp>
      <p:sp>
        <p:nvSpPr>
          <p:cNvPr id="187" name="Google Shape;187;p10"/>
          <p:cNvSpPr txBox="1"/>
          <p:nvPr/>
        </p:nvSpPr>
        <p:spPr>
          <a:xfrm>
            <a:off x="5832300" y="2578325"/>
            <a:ext cx="156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DATE</a:t>
            </a:r>
            <a:endParaRPr b="0" i="0" sz="1400" u="none" cap="none" strike="noStrike">
              <a:solidFill>
                <a:srgbClr val="000000"/>
              </a:solidFill>
              <a:latin typeface="Arial"/>
              <a:ea typeface="Arial"/>
              <a:cs typeface="Arial"/>
              <a:sym typeface="Arial"/>
            </a:endParaRPr>
          </a:p>
        </p:txBody>
      </p:sp>
      <p:sp>
        <p:nvSpPr>
          <p:cNvPr id="188" name="Google Shape;188;p10"/>
          <p:cNvSpPr txBox="1"/>
          <p:nvPr/>
        </p:nvSpPr>
        <p:spPr>
          <a:xfrm>
            <a:off x="5832300" y="297852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DATETIME</a:t>
            </a:r>
            <a:r>
              <a:rPr b="0" i="0" lang="en" sz="1400" u="none" cap="none" strike="noStrike">
                <a:solidFill>
                  <a:schemeClr val="dk1"/>
                </a:solidFill>
                <a:latin typeface="Arial"/>
                <a:ea typeface="Arial"/>
                <a:cs typeface="Arial"/>
                <a:sym typeface="Arial"/>
              </a:rPr>
              <a:t>(</a:t>
            </a:r>
            <a:r>
              <a:rPr b="0" i="1" lang="en" sz="1400" u="none" cap="none" strike="noStrike">
                <a:solidFill>
                  <a:schemeClr val="dk1"/>
                </a:solidFill>
                <a:latin typeface="Arial"/>
                <a:ea typeface="Arial"/>
                <a:cs typeface="Arial"/>
                <a:sym typeface="Arial"/>
              </a:rPr>
              <a:t>fsp</a:t>
            </a: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p:txBody>
      </p:sp>
      <p:sp>
        <p:nvSpPr>
          <p:cNvPr id="189" name="Google Shape;189;p10"/>
          <p:cNvSpPr txBox="1"/>
          <p:nvPr/>
        </p:nvSpPr>
        <p:spPr>
          <a:xfrm>
            <a:off x="5832300" y="3378713"/>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TIME</a:t>
            </a:r>
            <a:r>
              <a:rPr b="0" i="0" lang="en" sz="1400" u="none" cap="none" strike="noStrike">
                <a:solidFill>
                  <a:schemeClr val="dk1"/>
                </a:solidFill>
                <a:latin typeface="Arial"/>
                <a:ea typeface="Arial"/>
                <a:cs typeface="Arial"/>
                <a:sym typeface="Arial"/>
              </a:rPr>
              <a:t>(</a:t>
            </a:r>
            <a:r>
              <a:rPr b="0" i="1" lang="en" sz="1400" u="none" cap="none" strike="noStrike">
                <a:solidFill>
                  <a:schemeClr val="dk1"/>
                </a:solidFill>
                <a:latin typeface="Arial"/>
                <a:ea typeface="Arial"/>
                <a:cs typeface="Arial"/>
                <a:sym typeface="Arial"/>
              </a:rPr>
              <a:t>fsp</a:t>
            </a: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p:txBody>
      </p:sp>
      <p:sp>
        <p:nvSpPr>
          <p:cNvPr id="190" name="Google Shape;190;p10"/>
          <p:cNvSpPr/>
          <p:nvPr/>
        </p:nvSpPr>
        <p:spPr>
          <a:xfrm flipH="1" rot="10800000">
            <a:off x="3257500" y="-4100"/>
            <a:ext cx="2253300" cy="328800"/>
          </a:xfrm>
          <a:prstGeom prst="round2SameRect">
            <a:avLst>
              <a:gd fmla="val 16667" name="adj1"/>
              <a:gd fmla="val 0" name="adj2"/>
            </a:avLst>
          </a:prstGeom>
          <a:solidFill>
            <a:srgbClr val="36363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0"/>
          <p:cNvSpPr txBox="1"/>
          <p:nvPr/>
        </p:nvSpPr>
        <p:spPr>
          <a:xfrm>
            <a:off x="3260600" y="-60175"/>
            <a:ext cx="22503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Arial"/>
                <a:ea typeface="Arial"/>
                <a:cs typeface="Arial"/>
                <a:sym typeface="Arial"/>
              </a:rPr>
              <a:t>4 - Create Columns</a:t>
            </a:r>
            <a:endParaRPr b="1" i="0" sz="1600" u="none" cap="none" strike="noStrike">
              <a:solidFill>
                <a:schemeClr val="dk1"/>
              </a:solidFill>
              <a:latin typeface="Arial"/>
              <a:ea typeface="Arial"/>
              <a:cs typeface="Arial"/>
              <a:sym typeface="Arial"/>
            </a:endParaRPr>
          </a:p>
        </p:txBody>
      </p:sp>
      <p:sp>
        <p:nvSpPr>
          <p:cNvPr id="192" name="Google Shape;192;p10"/>
          <p:cNvSpPr txBox="1"/>
          <p:nvPr/>
        </p:nvSpPr>
        <p:spPr>
          <a:xfrm>
            <a:off x="21306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1</a:t>
            </a:r>
            <a:endParaRPr b="1" i="0" sz="1600" u="none" cap="none" strike="noStrike">
              <a:solidFill>
                <a:schemeClr val="dk1"/>
              </a:solidFill>
              <a:latin typeface="Arial"/>
              <a:ea typeface="Arial"/>
              <a:cs typeface="Arial"/>
              <a:sym typeface="Arial"/>
            </a:endParaRPr>
          </a:p>
        </p:txBody>
      </p:sp>
      <p:sp>
        <p:nvSpPr>
          <p:cNvPr id="193" name="Google Shape;193;p10"/>
          <p:cNvSpPr txBox="1"/>
          <p:nvPr/>
        </p:nvSpPr>
        <p:spPr>
          <a:xfrm>
            <a:off x="25062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2</a:t>
            </a:r>
            <a:endParaRPr b="1" i="0" sz="1600" u="none" cap="none" strike="noStrike">
              <a:solidFill>
                <a:schemeClr val="dk1"/>
              </a:solidFill>
              <a:latin typeface="Arial"/>
              <a:ea typeface="Arial"/>
              <a:cs typeface="Arial"/>
              <a:sym typeface="Arial"/>
            </a:endParaRPr>
          </a:p>
        </p:txBody>
      </p:sp>
      <p:sp>
        <p:nvSpPr>
          <p:cNvPr id="194" name="Google Shape;194;p10"/>
          <p:cNvSpPr txBox="1"/>
          <p:nvPr/>
        </p:nvSpPr>
        <p:spPr>
          <a:xfrm>
            <a:off x="28818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3</a:t>
            </a:r>
            <a:endParaRPr b="1" i="0" sz="1600" u="none" cap="none" strike="noStrike">
              <a:solidFill>
                <a:schemeClr val="dk1"/>
              </a:solidFill>
              <a:latin typeface="Arial"/>
              <a:ea typeface="Arial"/>
              <a:cs typeface="Arial"/>
              <a:sym typeface="Arial"/>
            </a:endParaRPr>
          </a:p>
        </p:txBody>
      </p:sp>
      <p:sp>
        <p:nvSpPr>
          <p:cNvPr id="195" name="Google Shape;195;p10"/>
          <p:cNvSpPr txBox="1"/>
          <p:nvPr/>
        </p:nvSpPr>
        <p:spPr>
          <a:xfrm>
            <a:off x="55109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5</a:t>
            </a:r>
            <a:endParaRPr b="1" i="0" sz="1600" u="none" cap="none" strike="noStrike">
              <a:solidFill>
                <a:schemeClr val="dk1"/>
              </a:solidFill>
              <a:latin typeface="Arial"/>
              <a:ea typeface="Arial"/>
              <a:cs typeface="Arial"/>
              <a:sym typeface="Arial"/>
            </a:endParaRPr>
          </a:p>
        </p:txBody>
      </p:sp>
      <p:sp>
        <p:nvSpPr>
          <p:cNvPr id="196" name="Google Shape;196;p10"/>
          <p:cNvSpPr txBox="1"/>
          <p:nvPr/>
        </p:nvSpPr>
        <p:spPr>
          <a:xfrm>
            <a:off x="58865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6</a:t>
            </a:r>
            <a:endParaRPr b="1" i="0" sz="1600" u="none" cap="none" strike="noStrike">
              <a:solidFill>
                <a:schemeClr val="dk1"/>
              </a:solidFill>
              <a:latin typeface="Arial"/>
              <a:ea typeface="Arial"/>
              <a:cs typeface="Arial"/>
              <a:sym typeface="Arial"/>
            </a:endParaRPr>
          </a:p>
        </p:txBody>
      </p:sp>
      <p:sp>
        <p:nvSpPr>
          <p:cNvPr id="197" name="Google Shape;197;p10"/>
          <p:cNvSpPr txBox="1"/>
          <p:nvPr/>
        </p:nvSpPr>
        <p:spPr>
          <a:xfrm>
            <a:off x="62621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7</a:t>
            </a:r>
            <a:endParaRPr b="1" i="0" sz="1600" u="none" cap="none" strike="noStrike">
              <a:solidFill>
                <a:schemeClr val="dk1"/>
              </a:solidFill>
              <a:latin typeface="Arial"/>
              <a:ea typeface="Arial"/>
              <a:cs typeface="Arial"/>
              <a:sym typeface="Arial"/>
            </a:endParaRPr>
          </a:p>
        </p:txBody>
      </p:sp>
      <p:sp>
        <p:nvSpPr>
          <p:cNvPr id="198" name="Google Shape;198;p10"/>
          <p:cNvSpPr txBox="1"/>
          <p:nvPr/>
        </p:nvSpPr>
        <p:spPr>
          <a:xfrm>
            <a:off x="66377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8</a:t>
            </a:r>
            <a:endParaRPr b="1" i="0" sz="16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1"/>
          <p:cNvSpPr txBox="1"/>
          <p:nvPr/>
        </p:nvSpPr>
        <p:spPr>
          <a:xfrm>
            <a:off x="311700" y="1479425"/>
            <a:ext cx="85206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VARCHAR</a:t>
            </a:r>
            <a:r>
              <a:rPr b="0" i="0" lang="en" sz="1400" u="none" cap="none" strike="noStrike">
                <a:solidFill>
                  <a:srgbClr val="000000"/>
                </a:solidFill>
                <a:latin typeface="Arial"/>
                <a:ea typeface="Arial"/>
                <a:cs typeface="Arial"/>
                <a:sym typeface="Arial"/>
              </a:rPr>
              <a:t>(</a:t>
            </a:r>
            <a:r>
              <a:rPr b="0" i="1" lang="en" sz="1400" u="none" cap="none" strike="noStrike">
                <a:solidFill>
                  <a:srgbClr val="000000"/>
                </a:solidFill>
                <a:latin typeface="Arial"/>
                <a:ea typeface="Arial"/>
                <a:cs typeface="Arial"/>
                <a:sym typeface="Arial"/>
              </a:rPr>
              <a:t>size</a:t>
            </a: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Most common string data type for columns of string data</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1" lang="en" sz="1400" u="none" cap="none" strike="noStrike">
                <a:solidFill>
                  <a:srgbClr val="000000"/>
                </a:solidFill>
                <a:latin typeface="Arial"/>
                <a:ea typeface="Arial"/>
                <a:cs typeface="Arial"/>
                <a:sym typeface="Arial"/>
              </a:rPr>
              <a:t>size </a:t>
            </a:r>
            <a:r>
              <a:rPr b="0" i="0" lang="en" sz="1400" u="none" cap="none" strike="noStrike">
                <a:solidFill>
                  <a:srgbClr val="000000"/>
                </a:solidFill>
                <a:latin typeface="Arial"/>
                <a:ea typeface="Arial"/>
                <a:cs typeface="Arial"/>
                <a:sym typeface="Arial"/>
              </a:rPr>
              <a:t>specifies maximum length in characters, which can be from 0 to 65535</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VARCHAR only uses the memory space required, it is a VARIABLE length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CHAR</a:t>
            </a:r>
            <a:r>
              <a:rPr b="0" i="0" lang="en" sz="1400" u="none" cap="none" strike="noStrike">
                <a:solidFill>
                  <a:schemeClr val="dk1"/>
                </a:solidFill>
                <a:latin typeface="Arial"/>
                <a:ea typeface="Arial"/>
                <a:cs typeface="Arial"/>
                <a:sym typeface="Arial"/>
              </a:rPr>
              <a:t>(</a:t>
            </a:r>
            <a:r>
              <a:rPr b="0" i="1" lang="en" sz="1400" u="none" cap="none" strike="noStrike">
                <a:solidFill>
                  <a:schemeClr val="dk1"/>
                </a:solidFill>
                <a:latin typeface="Arial"/>
                <a:ea typeface="Arial"/>
                <a:cs typeface="Arial"/>
                <a:sym typeface="Arial"/>
              </a:rPr>
              <a:t>size</a:t>
            </a: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1" lang="en" sz="1400" u="none" cap="none" strike="noStrike">
                <a:solidFill>
                  <a:schemeClr val="dk1"/>
                </a:solidFill>
                <a:latin typeface="Arial"/>
                <a:ea typeface="Arial"/>
                <a:cs typeface="Arial"/>
                <a:sym typeface="Arial"/>
              </a:rPr>
              <a:t>size </a:t>
            </a:r>
            <a:r>
              <a:rPr b="0" i="0" lang="en" sz="1400" u="none" cap="none" strike="noStrike">
                <a:solidFill>
                  <a:schemeClr val="dk1"/>
                </a:solidFill>
                <a:latin typeface="Arial"/>
                <a:ea typeface="Arial"/>
                <a:cs typeface="Arial"/>
                <a:sym typeface="Arial"/>
              </a:rPr>
              <a:t>specifies maximum length in characters, which can be from 0 to 255</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CHAR always uses the memory space requested, it is a FIXED length string</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Useful for strictly formatted columns, like 3 character country codes or postal codes</a:t>
            </a:r>
            <a:endParaRPr b="0" i="0" sz="1400" u="none" cap="none" strike="noStrike">
              <a:solidFill>
                <a:srgbClr val="000000"/>
              </a:solidFill>
              <a:latin typeface="Arial"/>
              <a:ea typeface="Arial"/>
              <a:cs typeface="Arial"/>
              <a:sym typeface="Arial"/>
            </a:endParaRPr>
          </a:p>
        </p:txBody>
      </p:sp>
      <p:sp>
        <p:nvSpPr>
          <p:cNvPr id="204" name="Google Shape;204;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Column Data Types</a:t>
            </a:r>
            <a:r>
              <a:rPr b="1" baseline="30000" lang="en" u="sng">
                <a:solidFill>
                  <a:schemeClr val="hlink"/>
                </a:solidFill>
                <a:hlinkClick r:id="rId3"/>
              </a:rPr>
              <a:t>1</a:t>
            </a:r>
            <a:endParaRPr b="1" baseline="30000"/>
          </a:p>
        </p:txBody>
      </p:sp>
      <p:sp>
        <p:nvSpPr>
          <p:cNvPr id="205" name="Google Shape;205;p11"/>
          <p:cNvSpPr txBox="1"/>
          <p:nvPr/>
        </p:nvSpPr>
        <p:spPr>
          <a:xfrm>
            <a:off x="0" y="4835700"/>
            <a:ext cx="9144000" cy="307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0" baseline="30000" i="0" lang="en" sz="800" u="none" cap="none" strike="noStrike">
                <a:solidFill>
                  <a:srgbClr val="000000"/>
                </a:solidFill>
                <a:latin typeface="Arial"/>
                <a:ea typeface="Arial"/>
                <a:cs typeface="Arial"/>
                <a:sym typeface="Arial"/>
              </a:rPr>
              <a:t>1</a:t>
            </a:r>
            <a:r>
              <a:rPr b="0" i="0" lang="en" sz="800" u="none" cap="none" strike="noStrike">
                <a:solidFill>
                  <a:srgbClr val="000000"/>
                </a:solidFill>
                <a:latin typeface="Arial"/>
                <a:ea typeface="Arial"/>
                <a:cs typeface="Arial"/>
                <a:sym typeface="Arial"/>
              </a:rPr>
              <a:t> </a:t>
            </a:r>
            <a:r>
              <a:rPr b="0" i="0" lang="en" sz="800" u="sng" cap="none" strike="noStrike">
                <a:solidFill>
                  <a:schemeClr val="hlink"/>
                </a:solidFill>
                <a:latin typeface="Arial"/>
                <a:ea typeface="Arial"/>
                <a:cs typeface="Arial"/>
                <a:sym typeface="Arial"/>
                <a:hlinkClick r:id="rId4"/>
              </a:rPr>
              <a:t>W3Schools - MySQL Data Types</a:t>
            </a:r>
            <a:endParaRPr b="0" i="0" sz="800" u="none" cap="none" strike="noStrike">
              <a:solidFill>
                <a:srgbClr val="000000"/>
              </a:solidFill>
              <a:latin typeface="Arial"/>
              <a:ea typeface="Arial"/>
              <a:cs typeface="Arial"/>
              <a:sym typeface="Arial"/>
            </a:endParaRPr>
          </a:p>
        </p:txBody>
      </p:sp>
      <p:sp>
        <p:nvSpPr>
          <p:cNvPr id="206" name="Google Shape;206;p11"/>
          <p:cNvSpPr txBox="1"/>
          <p:nvPr/>
        </p:nvSpPr>
        <p:spPr>
          <a:xfrm>
            <a:off x="311700" y="101772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1" i="0" lang="en" sz="1800" u="none" cap="none" strike="noStrike">
                <a:solidFill>
                  <a:schemeClr val="dk1"/>
                </a:solidFill>
                <a:latin typeface="Arial"/>
                <a:ea typeface="Arial"/>
                <a:cs typeface="Arial"/>
                <a:sym typeface="Arial"/>
              </a:rPr>
              <a:t>String Types</a:t>
            </a:r>
            <a:endParaRPr b="1" i="0" sz="1400" u="none" cap="none" strike="noStrike">
              <a:solidFill>
                <a:srgbClr val="000000"/>
              </a:solidFill>
              <a:latin typeface="Arial"/>
              <a:ea typeface="Arial"/>
              <a:cs typeface="Arial"/>
              <a:sym typeface="Arial"/>
            </a:endParaRPr>
          </a:p>
        </p:txBody>
      </p:sp>
      <p:sp>
        <p:nvSpPr>
          <p:cNvPr id="207" name="Google Shape;207;p11"/>
          <p:cNvSpPr/>
          <p:nvPr/>
        </p:nvSpPr>
        <p:spPr>
          <a:xfrm flipH="1" rot="10800000">
            <a:off x="3257500" y="-4100"/>
            <a:ext cx="2253300" cy="328800"/>
          </a:xfrm>
          <a:prstGeom prst="round2SameRect">
            <a:avLst>
              <a:gd fmla="val 16667" name="adj1"/>
              <a:gd fmla="val 0" name="adj2"/>
            </a:avLst>
          </a:prstGeom>
          <a:solidFill>
            <a:srgbClr val="36363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1"/>
          <p:cNvSpPr txBox="1"/>
          <p:nvPr/>
        </p:nvSpPr>
        <p:spPr>
          <a:xfrm>
            <a:off x="3260600" y="-60175"/>
            <a:ext cx="22503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Arial"/>
                <a:ea typeface="Arial"/>
                <a:cs typeface="Arial"/>
                <a:sym typeface="Arial"/>
              </a:rPr>
              <a:t>4 - Create Columns</a:t>
            </a:r>
            <a:endParaRPr b="1" i="0" sz="1600" u="none" cap="none" strike="noStrike">
              <a:solidFill>
                <a:schemeClr val="dk1"/>
              </a:solidFill>
              <a:latin typeface="Arial"/>
              <a:ea typeface="Arial"/>
              <a:cs typeface="Arial"/>
              <a:sym typeface="Arial"/>
            </a:endParaRPr>
          </a:p>
        </p:txBody>
      </p:sp>
      <p:sp>
        <p:nvSpPr>
          <p:cNvPr id="209" name="Google Shape;209;p11"/>
          <p:cNvSpPr txBox="1"/>
          <p:nvPr/>
        </p:nvSpPr>
        <p:spPr>
          <a:xfrm>
            <a:off x="21306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1</a:t>
            </a:r>
            <a:endParaRPr b="1" i="0" sz="1600" u="none" cap="none" strike="noStrike">
              <a:solidFill>
                <a:schemeClr val="dk1"/>
              </a:solidFill>
              <a:latin typeface="Arial"/>
              <a:ea typeface="Arial"/>
              <a:cs typeface="Arial"/>
              <a:sym typeface="Arial"/>
            </a:endParaRPr>
          </a:p>
        </p:txBody>
      </p:sp>
      <p:sp>
        <p:nvSpPr>
          <p:cNvPr id="210" name="Google Shape;210;p11"/>
          <p:cNvSpPr txBox="1"/>
          <p:nvPr/>
        </p:nvSpPr>
        <p:spPr>
          <a:xfrm>
            <a:off x="25062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2</a:t>
            </a:r>
            <a:endParaRPr b="1" i="0" sz="1600" u="none" cap="none" strike="noStrike">
              <a:solidFill>
                <a:schemeClr val="dk1"/>
              </a:solidFill>
              <a:latin typeface="Arial"/>
              <a:ea typeface="Arial"/>
              <a:cs typeface="Arial"/>
              <a:sym typeface="Arial"/>
            </a:endParaRPr>
          </a:p>
        </p:txBody>
      </p:sp>
      <p:sp>
        <p:nvSpPr>
          <p:cNvPr id="211" name="Google Shape;211;p11"/>
          <p:cNvSpPr txBox="1"/>
          <p:nvPr/>
        </p:nvSpPr>
        <p:spPr>
          <a:xfrm>
            <a:off x="28818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3</a:t>
            </a:r>
            <a:endParaRPr b="1" i="0" sz="1600" u="none" cap="none" strike="noStrike">
              <a:solidFill>
                <a:schemeClr val="dk1"/>
              </a:solidFill>
              <a:latin typeface="Arial"/>
              <a:ea typeface="Arial"/>
              <a:cs typeface="Arial"/>
              <a:sym typeface="Arial"/>
            </a:endParaRPr>
          </a:p>
        </p:txBody>
      </p:sp>
      <p:sp>
        <p:nvSpPr>
          <p:cNvPr id="212" name="Google Shape;212;p11"/>
          <p:cNvSpPr txBox="1"/>
          <p:nvPr/>
        </p:nvSpPr>
        <p:spPr>
          <a:xfrm>
            <a:off x="55109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5</a:t>
            </a:r>
            <a:endParaRPr b="1" i="0" sz="1600" u="none" cap="none" strike="noStrike">
              <a:solidFill>
                <a:schemeClr val="dk1"/>
              </a:solidFill>
              <a:latin typeface="Arial"/>
              <a:ea typeface="Arial"/>
              <a:cs typeface="Arial"/>
              <a:sym typeface="Arial"/>
            </a:endParaRPr>
          </a:p>
        </p:txBody>
      </p:sp>
      <p:sp>
        <p:nvSpPr>
          <p:cNvPr id="213" name="Google Shape;213;p11"/>
          <p:cNvSpPr txBox="1"/>
          <p:nvPr/>
        </p:nvSpPr>
        <p:spPr>
          <a:xfrm>
            <a:off x="58865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6</a:t>
            </a:r>
            <a:endParaRPr b="1" i="0" sz="1600" u="none" cap="none" strike="noStrike">
              <a:solidFill>
                <a:schemeClr val="dk1"/>
              </a:solidFill>
              <a:latin typeface="Arial"/>
              <a:ea typeface="Arial"/>
              <a:cs typeface="Arial"/>
              <a:sym typeface="Arial"/>
            </a:endParaRPr>
          </a:p>
        </p:txBody>
      </p:sp>
      <p:sp>
        <p:nvSpPr>
          <p:cNvPr id="214" name="Google Shape;214;p11"/>
          <p:cNvSpPr txBox="1"/>
          <p:nvPr/>
        </p:nvSpPr>
        <p:spPr>
          <a:xfrm>
            <a:off x="62621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7</a:t>
            </a:r>
            <a:endParaRPr b="1" i="0" sz="1600" u="none" cap="none" strike="noStrike">
              <a:solidFill>
                <a:schemeClr val="dk1"/>
              </a:solidFill>
              <a:latin typeface="Arial"/>
              <a:ea typeface="Arial"/>
              <a:cs typeface="Arial"/>
              <a:sym typeface="Arial"/>
            </a:endParaRPr>
          </a:p>
        </p:txBody>
      </p:sp>
      <p:sp>
        <p:nvSpPr>
          <p:cNvPr id="215" name="Google Shape;215;p11"/>
          <p:cNvSpPr txBox="1"/>
          <p:nvPr/>
        </p:nvSpPr>
        <p:spPr>
          <a:xfrm>
            <a:off x="66377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8</a:t>
            </a:r>
            <a:endParaRPr b="1" i="0" sz="1600" u="none" cap="none" strike="noStrike">
              <a:solidFill>
                <a:schemeClr val="dk1"/>
              </a:solidFill>
              <a:latin typeface="Arial"/>
              <a:ea typeface="Arial"/>
              <a:cs typeface="Arial"/>
              <a:sym typeface="Arial"/>
            </a:endParaRPr>
          </a:p>
        </p:txBody>
      </p:sp>
      <p:pic>
        <p:nvPicPr>
          <p:cNvPr id="216" name="Google Shape;216;p11"/>
          <p:cNvPicPr preferRelativeResize="0"/>
          <p:nvPr/>
        </p:nvPicPr>
        <p:blipFill rotWithShape="1">
          <a:blip r:embed="rId5">
            <a:alphaModFix/>
          </a:blip>
          <a:srcRect b="18519" l="12933" r="12941" t="65275"/>
          <a:stretch/>
        </p:blipFill>
        <p:spPr>
          <a:xfrm>
            <a:off x="5916300" y="1151425"/>
            <a:ext cx="2558825" cy="516200"/>
          </a:xfrm>
          <a:prstGeom prst="rect">
            <a:avLst/>
          </a:prstGeom>
          <a:noFill/>
          <a:ln>
            <a:noFill/>
          </a:ln>
        </p:spPr>
      </p:pic>
      <p:pic>
        <p:nvPicPr>
          <p:cNvPr id="217" name="Google Shape;217;p11"/>
          <p:cNvPicPr preferRelativeResize="0"/>
          <p:nvPr/>
        </p:nvPicPr>
        <p:blipFill rotWithShape="1">
          <a:blip r:embed="rId5">
            <a:alphaModFix/>
          </a:blip>
          <a:srcRect b="41934" l="12888" r="24786" t="41941"/>
          <a:stretch/>
        </p:blipFill>
        <p:spPr>
          <a:xfrm>
            <a:off x="5916300" y="591125"/>
            <a:ext cx="2162257" cy="516200"/>
          </a:xfrm>
          <a:prstGeom prst="rect">
            <a:avLst/>
          </a:prstGeom>
          <a:noFill/>
          <a:ln>
            <a:noFill/>
          </a:ln>
        </p:spPr>
      </p:pic>
      <p:sp>
        <p:nvSpPr>
          <p:cNvPr id="218" name="Google Shape;218;p11"/>
          <p:cNvSpPr txBox="1"/>
          <p:nvPr/>
        </p:nvSpPr>
        <p:spPr>
          <a:xfrm>
            <a:off x="311700" y="3613467"/>
            <a:ext cx="85206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ENUM</a:t>
            </a:r>
            <a:r>
              <a:rPr b="0" i="0" lang="en" sz="1400" u="none" cap="none" strike="noStrike">
                <a:solidFill>
                  <a:schemeClr val="dk1"/>
                </a:solidFill>
                <a:latin typeface="Arial"/>
                <a:ea typeface="Arial"/>
                <a:cs typeface="Arial"/>
                <a:sym typeface="Arial"/>
              </a:rPr>
              <a:t>(</a:t>
            </a:r>
            <a:r>
              <a:rPr b="0" i="1" lang="en" sz="1400" u="none" cap="none" strike="noStrike">
                <a:solidFill>
                  <a:schemeClr val="dk1"/>
                </a:solidFill>
                <a:latin typeface="Arial"/>
                <a:ea typeface="Arial"/>
                <a:cs typeface="Arial"/>
                <a:sym typeface="Arial"/>
              </a:rPr>
              <a:t>val1, val2, val3, ...</a:t>
            </a: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Only allows column to hold strings that are defined in the list</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Useful for restricted columns, like province lists or dropdown menus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2"/>
          <p:cNvSpPr txBox="1"/>
          <p:nvPr/>
        </p:nvSpPr>
        <p:spPr>
          <a:xfrm>
            <a:off x="311700" y="1479425"/>
            <a:ext cx="8520600" cy="203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INT</a:t>
            </a:r>
            <a:r>
              <a:rPr b="0" i="0" lang="en" sz="1400" u="none" cap="none" strike="noStrike">
                <a:solidFill>
                  <a:srgbClr val="000000"/>
                </a:solidFill>
                <a:latin typeface="Arial"/>
                <a:ea typeface="Arial"/>
                <a:cs typeface="Arial"/>
                <a:sym typeface="Arial"/>
              </a:rPr>
              <a:t>(</a:t>
            </a:r>
            <a:r>
              <a:rPr b="0" i="1" lang="en" sz="1400" u="none" cap="none" strike="noStrike">
                <a:solidFill>
                  <a:srgbClr val="000000"/>
                </a:solidFill>
                <a:latin typeface="Arial"/>
                <a:ea typeface="Arial"/>
                <a:cs typeface="Arial"/>
                <a:sym typeface="Arial"/>
              </a:rPr>
              <a:t>size</a:t>
            </a:r>
            <a:r>
              <a:rPr b="0" i="0" lang="en" sz="1400" u="none" cap="none" strike="noStrike">
                <a:solidFill>
                  <a:srgbClr val="000000"/>
                </a:solidFill>
                <a:latin typeface="Arial"/>
                <a:ea typeface="Arial"/>
                <a:cs typeface="Arial"/>
                <a:sym typeface="Arial"/>
              </a:rPr>
              <a:t>) – Signed range: -2147483648 to 2147483647 – Unsigned range: 0 to 4294967295</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Most common data type for columns of </a:t>
            </a:r>
            <a:r>
              <a:rPr b="0" i="0" lang="en" sz="1400" u="none" cap="none" strike="noStrike">
                <a:solidFill>
                  <a:schemeClr val="dk1"/>
                </a:solidFill>
                <a:latin typeface="Arial"/>
                <a:ea typeface="Arial"/>
                <a:cs typeface="Arial"/>
                <a:sym typeface="Arial"/>
              </a:rPr>
              <a:t>whole number </a:t>
            </a:r>
            <a:r>
              <a:rPr b="0" i="0" lang="en" sz="1400" u="none" cap="none" strike="noStrike">
                <a:solidFill>
                  <a:srgbClr val="000000"/>
                </a:solidFill>
                <a:latin typeface="Arial"/>
                <a:ea typeface="Arial"/>
                <a:cs typeface="Arial"/>
                <a:sym typeface="Arial"/>
              </a:rPr>
              <a:t>data</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1" lang="en" sz="1400" u="none" cap="none" strike="noStrike">
                <a:solidFill>
                  <a:srgbClr val="000000"/>
                </a:solidFill>
                <a:latin typeface="Arial"/>
                <a:ea typeface="Arial"/>
                <a:cs typeface="Arial"/>
                <a:sym typeface="Arial"/>
              </a:rPr>
              <a:t>size </a:t>
            </a:r>
            <a:r>
              <a:rPr b="0" i="0" lang="en" sz="1400" u="none" cap="none" strike="noStrike">
                <a:solidFill>
                  <a:srgbClr val="000000"/>
                </a:solidFill>
                <a:latin typeface="Arial"/>
                <a:ea typeface="Arial"/>
                <a:cs typeface="Arial"/>
                <a:sym typeface="Arial"/>
              </a:rPr>
              <a:t>specifies maximum digit length of the number</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Used for numerical data, including id column values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DECIMAL</a:t>
            </a:r>
            <a:r>
              <a:rPr b="0" i="0" lang="en" sz="1400" u="none" cap="none" strike="noStrike">
                <a:solidFill>
                  <a:schemeClr val="dk1"/>
                </a:solidFill>
                <a:latin typeface="Arial"/>
                <a:ea typeface="Arial"/>
                <a:cs typeface="Arial"/>
                <a:sym typeface="Arial"/>
              </a:rPr>
              <a:t>(</a:t>
            </a:r>
            <a:r>
              <a:rPr b="0" i="1" lang="en" sz="1400" u="none" cap="none" strike="noStrike">
                <a:solidFill>
                  <a:schemeClr val="dk1"/>
                </a:solidFill>
                <a:latin typeface="Arial"/>
                <a:ea typeface="Arial"/>
                <a:cs typeface="Arial"/>
                <a:sym typeface="Arial"/>
              </a:rPr>
              <a:t>size, d</a:t>
            </a: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Most common data type for columns of decimal point numbers</a:t>
            </a:r>
            <a:endParaRPr b="0" i="1"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1" lang="en" sz="1400" u="none" cap="none" strike="noStrike">
                <a:solidFill>
                  <a:schemeClr val="dk1"/>
                </a:solidFill>
                <a:latin typeface="Arial"/>
                <a:ea typeface="Arial"/>
                <a:cs typeface="Arial"/>
                <a:sym typeface="Arial"/>
              </a:rPr>
              <a:t>size </a:t>
            </a:r>
            <a:r>
              <a:rPr b="0" i="0" lang="en" sz="1400" u="none" cap="none" strike="noStrike">
                <a:solidFill>
                  <a:schemeClr val="dk1"/>
                </a:solidFill>
                <a:latin typeface="Arial"/>
                <a:ea typeface="Arial"/>
                <a:cs typeface="Arial"/>
                <a:sym typeface="Arial"/>
              </a:rPr>
              <a:t>limited to 65 digits, </a:t>
            </a:r>
            <a:r>
              <a:rPr b="0" i="1" lang="en" sz="1400" u="none" cap="none" strike="noStrike">
                <a:solidFill>
                  <a:schemeClr val="dk1"/>
                </a:solidFill>
                <a:latin typeface="Arial"/>
                <a:ea typeface="Arial"/>
                <a:cs typeface="Arial"/>
                <a:sym typeface="Arial"/>
              </a:rPr>
              <a:t>d </a:t>
            </a:r>
            <a:r>
              <a:rPr b="0" i="0" lang="en" sz="1400" u="none" cap="none" strike="noStrike">
                <a:solidFill>
                  <a:schemeClr val="dk1"/>
                </a:solidFill>
                <a:latin typeface="Arial"/>
                <a:ea typeface="Arial"/>
                <a:cs typeface="Arial"/>
                <a:sym typeface="Arial"/>
              </a:rPr>
              <a:t>specifies the number of digits right of the decimal point (max 30)</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1000"/>
              </a:spcAft>
              <a:buClr>
                <a:schemeClr val="dk1"/>
              </a:buClr>
              <a:buSzPts val="1400"/>
              <a:buFont typeface="Arial"/>
              <a:buChar char="●"/>
            </a:pPr>
            <a:r>
              <a:rPr b="0" i="0" lang="en" sz="1400" u="none" cap="none" strike="noStrike">
                <a:solidFill>
                  <a:srgbClr val="000000"/>
                </a:solidFill>
                <a:latin typeface="Arial"/>
                <a:ea typeface="Arial"/>
                <a:cs typeface="Arial"/>
                <a:sym typeface="Arial"/>
              </a:rPr>
              <a:t>Use when working with financial or accounting data, like currency values</a:t>
            </a:r>
            <a:endParaRPr b="0" i="0" sz="1400" u="none" cap="none" strike="noStrike">
              <a:solidFill>
                <a:schemeClr val="dk1"/>
              </a:solidFill>
              <a:latin typeface="Arial"/>
              <a:ea typeface="Arial"/>
              <a:cs typeface="Arial"/>
              <a:sym typeface="Arial"/>
            </a:endParaRPr>
          </a:p>
        </p:txBody>
      </p:sp>
      <p:sp>
        <p:nvSpPr>
          <p:cNvPr id="224" name="Google Shape;224;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Column Data Types</a:t>
            </a:r>
            <a:r>
              <a:rPr b="1" baseline="30000" lang="en" u="sng">
                <a:solidFill>
                  <a:schemeClr val="hlink"/>
                </a:solidFill>
                <a:hlinkClick r:id="rId3"/>
              </a:rPr>
              <a:t>1</a:t>
            </a:r>
            <a:endParaRPr b="1" baseline="30000"/>
          </a:p>
        </p:txBody>
      </p:sp>
      <p:sp>
        <p:nvSpPr>
          <p:cNvPr id="225" name="Google Shape;225;p12"/>
          <p:cNvSpPr txBox="1"/>
          <p:nvPr/>
        </p:nvSpPr>
        <p:spPr>
          <a:xfrm>
            <a:off x="0" y="4835700"/>
            <a:ext cx="9144000" cy="307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0" baseline="30000" i="0" lang="en" sz="800" u="none" cap="none" strike="noStrike">
                <a:solidFill>
                  <a:srgbClr val="000000"/>
                </a:solidFill>
                <a:latin typeface="Arial"/>
                <a:ea typeface="Arial"/>
                <a:cs typeface="Arial"/>
                <a:sym typeface="Arial"/>
              </a:rPr>
              <a:t>1</a:t>
            </a:r>
            <a:r>
              <a:rPr b="0" i="0" lang="en" sz="800" u="none" cap="none" strike="noStrike">
                <a:solidFill>
                  <a:srgbClr val="000000"/>
                </a:solidFill>
                <a:latin typeface="Arial"/>
                <a:ea typeface="Arial"/>
                <a:cs typeface="Arial"/>
                <a:sym typeface="Arial"/>
              </a:rPr>
              <a:t> </a:t>
            </a:r>
            <a:r>
              <a:rPr b="0" i="0" lang="en" sz="800" u="sng" cap="none" strike="noStrike">
                <a:solidFill>
                  <a:schemeClr val="hlink"/>
                </a:solidFill>
                <a:latin typeface="Arial"/>
                <a:ea typeface="Arial"/>
                <a:cs typeface="Arial"/>
                <a:sym typeface="Arial"/>
                <a:hlinkClick r:id="rId4"/>
              </a:rPr>
              <a:t>W3Schools - MySQL Data Types</a:t>
            </a:r>
            <a:endParaRPr b="0" i="0" sz="800" u="none" cap="none" strike="noStrike">
              <a:solidFill>
                <a:srgbClr val="000000"/>
              </a:solidFill>
              <a:latin typeface="Arial"/>
              <a:ea typeface="Arial"/>
              <a:cs typeface="Arial"/>
              <a:sym typeface="Arial"/>
            </a:endParaRPr>
          </a:p>
        </p:txBody>
      </p:sp>
      <p:sp>
        <p:nvSpPr>
          <p:cNvPr id="226" name="Google Shape;226;p12"/>
          <p:cNvSpPr txBox="1"/>
          <p:nvPr/>
        </p:nvSpPr>
        <p:spPr>
          <a:xfrm>
            <a:off x="311700" y="101772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1" i="0" lang="en" sz="1800" u="none" cap="none" strike="noStrike">
                <a:solidFill>
                  <a:schemeClr val="dk1"/>
                </a:solidFill>
                <a:latin typeface="Arial"/>
                <a:ea typeface="Arial"/>
                <a:cs typeface="Arial"/>
                <a:sym typeface="Arial"/>
              </a:rPr>
              <a:t>Number Types</a:t>
            </a:r>
            <a:endParaRPr b="1" i="0" sz="1400" u="none" cap="none" strike="noStrike">
              <a:solidFill>
                <a:srgbClr val="000000"/>
              </a:solidFill>
              <a:latin typeface="Arial"/>
              <a:ea typeface="Arial"/>
              <a:cs typeface="Arial"/>
              <a:sym typeface="Arial"/>
            </a:endParaRPr>
          </a:p>
        </p:txBody>
      </p:sp>
      <p:sp>
        <p:nvSpPr>
          <p:cNvPr id="227" name="Google Shape;227;p12"/>
          <p:cNvSpPr/>
          <p:nvPr/>
        </p:nvSpPr>
        <p:spPr>
          <a:xfrm flipH="1" rot="10800000">
            <a:off x="3257500" y="-4100"/>
            <a:ext cx="2253300" cy="328800"/>
          </a:xfrm>
          <a:prstGeom prst="round2SameRect">
            <a:avLst>
              <a:gd fmla="val 16667" name="adj1"/>
              <a:gd fmla="val 0" name="adj2"/>
            </a:avLst>
          </a:prstGeom>
          <a:solidFill>
            <a:srgbClr val="36363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2"/>
          <p:cNvSpPr txBox="1"/>
          <p:nvPr/>
        </p:nvSpPr>
        <p:spPr>
          <a:xfrm>
            <a:off x="3260600" y="-60175"/>
            <a:ext cx="22503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Arial"/>
                <a:ea typeface="Arial"/>
                <a:cs typeface="Arial"/>
                <a:sym typeface="Arial"/>
              </a:rPr>
              <a:t>4 - Create Columns</a:t>
            </a:r>
            <a:endParaRPr b="1" i="0" sz="1600" u="none" cap="none" strike="noStrike">
              <a:solidFill>
                <a:schemeClr val="dk1"/>
              </a:solidFill>
              <a:latin typeface="Arial"/>
              <a:ea typeface="Arial"/>
              <a:cs typeface="Arial"/>
              <a:sym typeface="Arial"/>
            </a:endParaRPr>
          </a:p>
        </p:txBody>
      </p:sp>
      <p:sp>
        <p:nvSpPr>
          <p:cNvPr id="229" name="Google Shape;229;p12"/>
          <p:cNvSpPr txBox="1"/>
          <p:nvPr/>
        </p:nvSpPr>
        <p:spPr>
          <a:xfrm>
            <a:off x="21306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1</a:t>
            </a:r>
            <a:endParaRPr b="1" i="0" sz="1600" u="none" cap="none" strike="noStrike">
              <a:solidFill>
                <a:schemeClr val="dk1"/>
              </a:solidFill>
              <a:latin typeface="Arial"/>
              <a:ea typeface="Arial"/>
              <a:cs typeface="Arial"/>
              <a:sym typeface="Arial"/>
            </a:endParaRPr>
          </a:p>
        </p:txBody>
      </p:sp>
      <p:sp>
        <p:nvSpPr>
          <p:cNvPr id="230" name="Google Shape;230;p12"/>
          <p:cNvSpPr txBox="1"/>
          <p:nvPr/>
        </p:nvSpPr>
        <p:spPr>
          <a:xfrm>
            <a:off x="25062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2</a:t>
            </a:r>
            <a:endParaRPr b="1" i="0" sz="1600" u="none" cap="none" strike="noStrike">
              <a:solidFill>
                <a:schemeClr val="dk1"/>
              </a:solidFill>
              <a:latin typeface="Arial"/>
              <a:ea typeface="Arial"/>
              <a:cs typeface="Arial"/>
              <a:sym typeface="Arial"/>
            </a:endParaRPr>
          </a:p>
        </p:txBody>
      </p:sp>
      <p:sp>
        <p:nvSpPr>
          <p:cNvPr id="231" name="Google Shape;231;p12"/>
          <p:cNvSpPr txBox="1"/>
          <p:nvPr/>
        </p:nvSpPr>
        <p:spPr>
          <a:xfrm>
            <a:off x="28818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3</a:t>
            </a:r>
            <a:endParaRPr b="1" i="0" sz="1600" u="none" cap="none" strike="noStrike">
              <a:solidFill>
                <a:schemeClr val="dk1"/>
              </a:solidFill>
              <a:latin typeface="Arial"/>
              <a:ea typeface="Arial"/>
              <a:cs typeface="Arial"/>
              <a:sym typeface="Arial"/>
            </a:endParaRPr>
          </a:p>
        </p:txBody>
      </p:sp>
      <p:sp>
        <p:nvSpPr>
          <p:cNvPr id="232" name="Google Shape;232;p12"/>
          <p:cNvSpPr txBox="1"/>
          <p:nvPr/>
        </p:nvSpPr>
        <p:spPr>
          <a:xfrm>
            <a:off x="55109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5</a:t>
            </a:r>
            <a:endParaRPr b="1" i="0" sz="1600" u="none" cap="none" strike="noStrike">
              <a:solidFill>
                <a:schemeClr val="dk1"/>
              </a:solidFill>
              <a:latin typeface="Arial"/>
              <a:ea typeface="Arial"/>
              <a:cs typeface="Arial"/>
              <a:sym typeface="Arial"/>
            </a:endParaRPr>
          </a:p>
        </p:txBody>
      </p:sp>
      <p:sp>
        <p:nvSpPr>
          <p:cNvPr id="233" name="Google Shape;233;p12"/>
          <p:cNvSpPr txBox="1"/>
          <p:nvPr/>
        </p:nvSpPr>
        <p:spPr>
          <a:xfrm>
            <a:off x="58865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6</a:t>
            </a:r>
            <a:endParaRPr b="1" i="0" sz="1600" u="none" cap="none" strike="noStrike">
              <a:solidFill>
                <a:schemeClr val="dk1"/>
              </a:solidFill>
              <a:latin typeface="Arial"/>
              <a:ea typeface="Arial"/>
              <a:cs typeface="Arial"/>
              <a:sym typeface="Arial"/>
            </a:endParaRPr>
          </a:p>
        </p:txBody>
      </p:sp>
      <p:sp>
        <p:nvSpPr>
          <p:cNvPr id="234" name="Google Shape;234;p12"/>
          <p:cNvSpPr txBox="1"/>
          <p:nvPr/>
        </p:nvSpPr>
        <p:spPr>
          <a:xfrm>
            <a:off x="62621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7</a:t>
            </a:r>
            <a:endParaRPr b="1" i="0" sz="1600" u="none" cap="none" strike="noStrike">
              <a:solidFill>
                <a:schemeClr val="dk1"/>
              </a:solidFill>
              <a:latin typeface="Arial"/>
              <a:ea typeface="Arial"/>
              <a:cs typeface="Arial"/>
              <a:sym typeface="Arial"/>
            </a:endParaRPr>
          </a:p>
        </p:txBody>
      </p:sp>
      <p:sp>
        <p:nvSpPr>
          <p:cNvPr id="235" name="Google Shape;235;p12"/>
          <p:cNvSpPr txBox="1"/>
          <p:nvPr/>
        </p:nvSpPr>
        <p:spPr>
          <a:xfrm>
            <a:off x="66377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8</a:t>
            </a:r>
            <a:endParaRPr b="1" i="0" sz="1600" u="none" cap="none" strike="noStrike">
              <a:solidFill>
                <a:schemeClr val="dk1"/>
              </a:solidFill>
              <a:latin typeface="Arial"/>
              <a:ea typeface="Arial"/>
              <a:cs typeface="Arial"/>
              <a:sym typeface="Arial"/>
            </a:endParaRPr>
          </a:p>
        </p:txBody>
      </p:sp>
      <p:sp>
        <p:nvSpPr>
          <p:cNvPr id="236" name="Google Shape;236;p12"/>
          <p:cNvSpPr txBox="1"/>
          <p:nvPr/>
        </p:nvSpPr>
        <p:spPr>
          <a:xfrm>
            <a:off x="6277150" y="2105475"/>
            <a:ext cx="2555100" cy="532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1021.6789</a:t>
            </a:r>
            <a:endParaRPr b="0" i="0" sz="1800" u="none" cap="none" strike="noStrike">
              <a:solidFill>
                <a:schemeClr val="dk1"/>
              </a:solidFill>
              <a:latin typeface="Arial"/>
              <a:ea typeface="Arial"/>
              <a:cs typeface="Arial"/>
              <a:sym typeface="Arial"/>
            </a:endParaRPr>
          </a:p>
        </p:txBody>
      </p:sp>
      <p:cxnSp>
        <p:nvCxnSpPr>
          <p:cNvPr id="237" name="Google Shape;237;p12"/>
          <p:cNvCxnSpPr/>
          <p:nvPr/>
        </p:nvCxnSpPr>
        <p:spPr>
          <a:xfrm>
            <a:off x="7042900" y="2196275"/>
            <a:ext cx="1036500" cy="0"/>
          </a:xfrm>
          <a:prstGeom prst="straightConnector1">
            <a:avLst/>
          </a:prstGeom>
          <a:noFill/>
          <a:ln cap="flat" cmpd="sng" w="9525">
            <a:solidFill>
              <a:schemeClr val="dk1"/>
            </a:solidFill>
            <a:prstDash val="solid"/>
            <a:round/>
            <a:headEnd len="med" w="med" type="stealth"/>
            <a:tailEnd len="med" w="med" type="stealth"/>
          </a:ln>
        </p:spPr>
      </p:cxnSp>
      <p:cxnSp>
        <p:nvCxnSpPr>
          <p:cNvPr id="238" name="Google Shape;238;p12"/>
          <p:cNvCxnSpPr/>
          <p:nvPr/>
        </p:nvCxnSpPr>
        <p:spPr>
          <a:xfrm>
            <a:off x="7610500" y="2477776"/>
            <a:ext cx="468900" cy="0"/>
          </a:xfrm>
          <a:prstGeom prst="straightConnector1">
            <a:avLst/>
          </a:prstGeom>
          <a:noFill/>
          <a:ln cap="flat" cmpd="sng" w="9525">
            <a:solidFill>
              <a:schemeClr val="dk1"/>
            </a:solidFill>
            <a:prstDash val="solid"/>
            <a:round/>
            <a:headEnd len="med" w="med" type="stealth"/>
            <a:tailEnd len="med" w="med" type="stealth"/>
          </a:ln>
        </p:spPr>
      </p:cxnSp>
      <p:sp>
        <p:nvSpPr>
          <p:cNvPr id="239" name="Google Shape;239;p12"/>
          <p:cNvSpPr txBox="1"/>
          <p:nvPr/>
        </p:nvSpPr>
        <p:spPr>
          <a:xfrm>
            <a:off x="7266250" y="1885886"/>
            <a:ext cx="5898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chemeClr val="dk1"/>
                </a:solidFill>
                <a:latin typeface="Arial"/>
                <a:ea typeface="Arial"/>
                <a:cs typeface="Arial"/>
                <a:sym typeface="Arial"/>
              </a:rPr>
              <a:t>size</a:t>
            </a:r>
            <a:endParaRPr b="0" i="1" sz="1400" u="none" cap="none" strike="noStrike">
              <a:solidFill>
                <a:schemeClr val="dk1"/>
              </a:solidFill>
              <a:latin typeface="Arial"/>
              <a:ea typeface="Arial"/>
              <a:cs typeface="Arial"/>
              <a:sym typeface="Arial"/>
            </a:endParaRPr>
          </a:p>
        </p:txBody>
      </p:sp>
      <p:sp>
        <p:nvSpPr>
          <p:cNvPr id="240" name="Google Shape;240;p12"/>
          <p:cNvSpPr txBox="1"/>
          <p:nvPr/>
        </p:nvSpPr>
        <p:spPr>
          <a:xfrm>
            <a:off x="7550050" y="2379000"/>
            <a:ext cx="5898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chemeClr val="dk1"/>
                </a:solidFill>
                <a:latin typeface="Arial"/>
                <a:ea typeface="Arial"/>
                <a:cs typeface="Arial"/>
                <a:sym typeface="Arial"/>
              </a:rPr>
              <a:t>d</a:t>
            </a:r>
            <a:endParaRPr b="0" i="1" sz="1400" u="none" cap="none" strike="noStrike">
              <a:solidFill>
                <a:schemeClr val="dk1"/>
              </a:solidFill>
              <a:latin typeface="Arial"/>
              <a:ea typeface="Arial"/>
              <a:cs typeface="Arial"/>
              <a:sym typeface="Arial"/>
            </a:endParaRPr>
          </a:p>
        </p:txBody>
      </p:sp>
      <p:sp>
        <p:nvSpPr>
          <p:cNvPr id="241" name="Google Shape;241;p12"/>
          <p:cNvSpPr txBox="1"/>
          <p:nvPr/>
        </p:nvSpPr>
        <p:spPr>
          <a:xfrm>
            <a:off x="311700" y="3446120"/>
            <a:ext cx="8520600" cy="1174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FLOAT</a:t>
            </a:r>
            <a:r>
              <a:rPr b="0" i="0" lang="en" sz="1400" u="none" cap="none" strike="noStrike">
                <a:solidFill>
                  <a:schemeClr val="dk1"/>
                </a:solidFill>
                <a:latin typeface="Arial"/>
                <a:ea typeface="Arial"/>
                <a:cs typeface="Arial"/>
                <a:sym typeface="Arial"/>
              </a:rPr>
              <a:t>(</a:t>
            </a:r>
            <a:r>
              <a:rPr b="0" i="1" lang="en" sz="1400" u="none" cap="none" strike="noStrike">
                <a:solidFill>
                  <a:schemeClr val="dk1"/>
                </a:solidFill>
                <a:latin typeface="Arial"/>
                <a:ea typeface="Arial"/>
                <a:cs typeface="Arial"/>
                <a:sym typeface="Arial"/>
              </a:rPr>
              <a:t>size, d</a:t>
            </a:r>
            <a:r>
              <a:rPr b="0" i="0" lang="en" sz="1400" u="none" cap="none" strike="noStrike">
                <a:solidFill>
                  <a:schemeClr val="dk1"/>
                </a:solidFill>
                <a:latin typeface="Arial"/>
                <a:ea typeface="Arial"/>
                <a:cs typeface="Arial"/>
                <a:sym typeface="Arial"/>
              </a:rPr>
              <a:t>) – Range: -1.79E+308 to 1.79E+308</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Used where extreme numeric values are encountered, like scientific applications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BOOL – </a:t>
            </a:r>
            <a:r>
              <a:rPr b="0" i="0" lang="en" sz="1400" u="none" cap="none" strike="noStrike">
                <a:solidFill>
                  <a:schemeClr val="dk1"/>
                </a:solidFill>
                <a:latin typeface="Arial"/>
                <a:ea typeface="Arial"/>
                <a:cs typeface="Arial"/>
                <a:sym typeface="Arial"/>
              </a:rPr>
              <a:t>Zero is considered as false, nonzero values are considered as true</a:t>
            </a:r>
            <a:endParaRPr b="1"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Used to represent on/off, true/false, is/is not values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3"/>
          <p:cNvSpPr txBox="1"/>
          <p:nvPr/>
        </p:nvSpPr>
        <p:spPr>
          <a:xfrm>
            <a:off x="311700" y="1479425"/>
            <a:ext cx="8520600" cy="194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DATE</a:t>
            </a:r>
            <a:r>
              <a:rPr b="0" i="0" lang="en" sz="1400" u="none" cap="none" strike="noStrike">
                <a:solidFill>
                  <a:srgbClr val="000000"/>
                </a:solidFill>
                <a:latin typeface="Arial"/>
                <a:ea typeface="Arial"/>
                <a:cs typeface="Arial"/>
                <a:sym typeface="Arial"/>
              </a:rPr>
              <a:t> – Range: '1000-01-01' to '9999-12-31'</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Format: YYYY-MM-DD</a:t>
            </a:r>
            <a:r>
              <a:rPr b="0" i="0" lang="en" sz="1400" u="none" cap="none" strike="noStrike">
                <a:solidFill>
                  <a:schemeClr val="dk1"/>
                </a:solidFill>
                <a:latin typeface="Arial"/>
                <a:ea typeface="Arial"/>
                <a:cs typeface="Arial"/>
                <a:sym typeface="Arial"/>
              </a:rPr>
              <a:t> — Ex: 2024-10-09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DATETIME</a:t>
            </a:r>
            <a:r>
              <a:rPr b="0" i="0" lang="en" sz="1400" u="none" cap="none" strike="noStrike">
                <a:solidFill>
                  <a:schemeClr val="dk1"/>
                </a:solidFill>
                <a:latin typeface="Arial"/>
                <a:ea typeface="Arial"/>
                <a:cs typeface="Arial"/>
                <a:sym typeface="Arial"/>
              </a:rPr>
              <a:t>(</a:t>
            </a:r>
            <a:r>
              <a:rPr b="0" i="1" lang="en" sz="1400" u="none" cap="none" strike="noStrike">
                <a:solidFill>
                  <a:schemeClr val="dk1"/>
                </a:solidFill>
                <a:latin typeface="Arial"/>
                <a:ea typeface="Arial"/>
                <a:cs typeface="Arial"/>
                <a:sym typeface="Arial"/>
              </a:rPr>
              <a:t>fsp</a:t>
            </a:r>
            <a:r>
              <a:rPr b="0" i="0" lang="en" sz="1400" u="none" cap="none" strike="noStrike">
                <a:solidFill>
                  <a:schemeClr val="dk1"/>
                </a:solidFill>
                <a:latin typeface="Arial"/>
                <a:ea typeface="Arial"/>
                <a:cs typeface="Arial"/>
                <a:sym typeface="Arial"/>
              </a:rPr>
              <a:t>) – Range: 1000-01-01 00:00:00' to '9999-12-31 23:59:59'</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Format: YYYY-MM-DD hh:mm:ss</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A date and time combination — Ex: 2024-10-10 02:00:00 (2am)</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TIME(</a:t>
            </a:r>
            <a:r>
              <a:rPr b="0" i="1" lang="en" sz="1400" u="none" cap="none" strike="noStrike">
                <a:solidFill>
                  <a:schemeClr val="dk1"/>
                </a:solidFill>
                <a:latin typeface="Arial"/>
                <a:ea typeface="Arial"/>
                <a:cs typeface="Arial"/>
                <a:sym typeface="Arial"/>
              </a:rPr>
              <a:t>fsp)</a:t>
            </a:r>
            <a:r>
              <a:rPr b="1" i="0" lang="en" sz="1400" u="none" cap="none" strike="noStrike">
                <a:solidFill>
                  <a:schemeClr val="dk1"/>
                </a:solidFill>
                <a:latin typeface="Arial"/>
                <a:ea typeface="Arial"/>
                <a:cs typeface="Arial"/>
                <a:sym typeface="Arial"/>
              </a:rPr>
              <a:t> – </a:t>
            </a:r>
            <a:r>
              <a:rPr b="0" i="0" lang="en" sz="1400" u="none" cap="none" strike="noStrike">
                <a:solidFill>
                  <a:schemeClr val="dk1"/>
                </a:solidFill>
                <a:latin typeface="Arial"/>
                <a:ea typeface="Arial"/>
                <a:cs typeface="Arial"/>
                <a:sym typeface="Arial"/>
              </a:rPr>
              <a:t>Range: '-838:59:59' to '838:59:59'</a:t>
            </a:r>
            <a:endParaRPr b="1"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1000"/>
              </a:spcAft>
              <a:buClr>
                <a:schemeClr val="dk1"/>
              </a:buClr>
              <a:buSzPts val="1400"/>
              <a:buFont typeface="Arial"/>
              <a:buChar char="●"/>
            </a:pPr>
            <a:r>
              <a:rPr b="0" i="0" lang="en" sz="1400" u="none" cap="none" strike="noStrike">
                <a:solidFill>
                  <a:schemeClr val="dk1"/>
                </a:solidFill>
                <a:latin typeface="Arial"/>
                <a:ea typeface="Arial"/>
                <a:cs typeface="Arial"/>
                <a:sym typeface="Arial"/>
              </a:rPr>
              <a:t>Format: hh:mm:ss — Ex: 14:00:00.000000 (2pm)</a:t>
            </a:r>
            <a:endParaRPr b="0" i="0" sz="1400" u="none" cap="none" strike="noStrike">
              <a:solidFill>
                <a:schemeClr val="dk1"/>
              </a:solidFill>
              <a:latin typeface="Arial"/>
              <a:ea typeface="Arial"/>
              <a:cs typeface="Arial"/>
              <a:sym typeface="Arial"/>
            </a:endParaRPr>
          </a:p>
        </p:txBody>
      </p:sp>
      <p:sp>
        <p:nvSpPr>
          <p:cNvPr id="247" name="Google Shape;247;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Column Data Types</a:t>
            </a:r>
            <a:r>
              <a:rPr b="1" baseline="30000" lang="en" u="sng">
                <a:solidFill>
                  <a:schemeClr val="hlink"/>
                </a:solidFill>
                <a:hlinkClick r:id="rId3"/>
              </a:rPr>
              <a:t>1</a:t>
            </a:r>
            <a:endParaRPr b="1" baseline="30000"/>
          </a:p>
        </p:txBody>
      </p:sp>
      <p:sp>
        <p:nvSpPr>
          <p:cNvPr id="248" name="Google Shape;248;p13"/>
          <p:cNvSpPr txBox="1"/>
          <p:nvPr/>
        </p:nvSpPr>
        <p:spPr>
          <a:xfrm>
            <a:off x="0" y="4835700"/>
            <a:ext cx="9144000" cy="307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0" baseline="30000" i="0" lang="en" sz="800" u="none" cap="none" strike="noStrike">
                <a:solidFill>
                  <a:srgbClr val="000000"/>
                </a:solidFill>
                <a:latin typeface="Arial"/>
                <a:ea typeface="Arial"/>
                <a:cs typeface="Arial"/>
                <a:sym typeface="Arial"/>
              </a:rPr>
              <a:t>1</a:t>
            </a:r>
            <a:r>
              <a:rPr b="0" i="0" lang="en" sz="800" u="none" cap="none" strike="noStrike">
                <a:solidFill>
                  <a:srgbClr val="000000"/>
                </a:solidFill>
                <a:latin typeface="Arial"/>
                <a:ea typeface="Arial"/>
                <a:cs typeface="Arial"/>
                <a:sym typeface="Arial"/>
              </a:rPr>
              <a:t> </a:t>
            </a:r>
            <a:r>
              <a:rPr b="0" i="0" lang="en" sz="800" u="sng" cap="none" strike="noStrike">
                <a:solidFill>
                  <a:schemeClr val="hlink"/>
                </a:solidFill>
                <a:latin typeface="Arial"/>
                <a:ea typeface="Arial"/>
                <a:cs typeface="Arial"/>
                <a:sym typeface="Arial"/>
                <a:hlinkClick r:id="rId4"/>
              </a:rPr>
              <a:t>W3Schools - MySQL Data Types</a:t>
            </a:r>
            <a:endParaRPr b="0" i="0" sz="800" u="none" cap="none" strike="noStrike">
              <a:solidFill>
                <a:srgbClr val="000000"/>
              </a:solidFill>
              <a:latin typeface="Arial"/>
              <a:ea typeface="Arial"/>
              <a:cs typeface="Arial"/>
              <a:sym typeface="Arial"/>
            </a:endParaRPr>
          </a:p>
        </p:txBody>
      </p:sp>
      <p:sp>
        <p:nvSpPr>
          <p:cNvPr id="249" name="Google Shape;249;p13"/>
          <p:cNvSpPr txBox="1"/>
          <p:nvPr/>
        </p:nvSpPr>
        <p:spPr>
          <a:xfrm>
            <a:off x="311700" y="101772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1" i="0" lang="en" sz="1800" u="none" cap="none" strike="noStrike">
                <a:solidFill>
                  <a:schemeClr val="dk1"/>
                </a:solidFill>
                <a:latin typeface="Arial"/>
                <a:ea typeface="Arial"/>
                <a:cs typeface="Arial"/>
                <a:sym typeface="Arial"/>
              </a:rPr>
              <a:t>Date/Time Types</a:t>
            </a:r>
            <a:endParaRPr b="1" i="0" sz="1400" u="none" cap="none" strike="noStrike">
              <a:solidFill>
                <a:srgbClr val="000000"/>
              </a:solidFill>
              <a:latin typeface="Arial"/>
              <a:ea typeface="Arial"/>
              <a:cs typeface="Arial"/>
              <a:sym typeface="Arial"/>
            </a:endParaRPr>
          </a:p>
        </p:txBody>
      </p:sp>
      <p:sp>
        <p:nvSpPr>
          <p:cNvPr id="250" name="Google Shape;250;p13"/>
          <p:cNvSpPr/>
          <p:nvPr/>
        </p:nvSpPr>
        <p:spPr>
          <a:xfrm flipH="1" rot="10800000">
            <a:off x="3257500" y="-4100"/>
            <a:ext cx="2253300" cy="328800"/>
          </a:xfrm>
          <a:prstGeom prst="round2SameRect">
            <a:avLst>
              <a:gd fmla="val 16667" name="adj1"/>
              <a:gd fmla="val 0" name="adj2"/>
            </a:avLst>
          </a:prstGeom>
          <a:solidFill>
            <a:srgbClr val="36363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13"/>
          <p:cNvSpPr txBox="1"/>
          <p:nvPr/>
        </p:nvSpPr>
        <p:spPr>
          <a:xfrm>
            <a:off x="3260600" y="-60175"/>
            <a:ext cx="22503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Arial"/>
                <a:ea typeface="Arial"/>
                <a:cs typeface="Arial"/>
                <a:sym typeface="Arial"/>
              </a:rPr>
              <a:t>4 - Create Columns</a:t>
            </a:r>
            <a:endParaRPr b="1" i="0" sz="1600" u="none" cap="none" strike="noStrike">
              <a:solidFill>
                <a:schemeClr val="dk1"/>
              </a:solidFill>
              <a:latin typeface="Arial"/>
              <a:ea typeface="Arial"/>
              <a:cs typeface="Arial"/>
              <a:sym typeface="Arial"/>
            </a:endParaRPr>
          </a:p>
        </p:txBody>
      </p:sp>
      <p:sp>
        <p:nvSpPr>
          <p:cNvPr id="252" name="Google Shape;252;p13"/>
          <p:cNvSpPr txBox="1"/>
          <p:nvPr/>
        </p:nvSpPr>
        <p:spPr>
          <a:xfrm>
            <a:off x="21306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1</a:t>
            </a:r>
            <a:endParaRPr b="1" i="0" sz="1600" u="none" cap="none" strike="noStrike">
              <a:solidFill>
                <a:schemeClr val="dk1"/>
              </a:solidFill>
              <a:latin typeface="Arial"/>
              <a:ea typeface="Arial"/>
              <a:cs typeface="Arial"/>
              <a:sym typeface="Arial"/>
            </a:endParaRPr>
          </a:p>
        </p:txBody>
      </p:sp>
      <p:sp>
        <p:nvSpPr>
          <p:cNvPr id="253" name="Google Shape;253;p13"/>
          <p:cNvSpPr txBox="1"/>
          <p:nvPr/>
        </p:nvSpPr>
        <p:spPr>
          <a:xfrm>
            <a:off x="25062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2</a:t>
            </a:r>
            <a:endParaRPr b="1" i="0" sz="1600" u="none" cap="none" strike="noStrike">
              <a:solidFill>
                <a:schemeClr val="dk1"/>
              </a:solidFill>
              <a:latin typeface="Arial"/>
              <a:ea typeface="Arial"/>
              <a:cs typeface="Arial"/>
              <a:sym typeface="Arial"/>
            </a:endParaRPr>
          </a:p>
        </p:txBody>
      </p:sp>
      <p:sp>
        <p:nvSpPr>
          <p:cNvPr id="254" name="Google Shape;254;p13"/>
          <p:cNvSpPr txBox="1"/>
          <p:nvPr/>
        </p:nvSpPr>
        <p:spPr>
          <a:xfrm>
            <a:off x="28818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3</a:t>
            </a:r>
            <a:endParaRPr b="1" i="0" sz="1600" u="none" cap="none" strike="noStrike">
              <a:solidFill>
                <a:schemeClr val="dk1"/>
              </a:solidFill>
              <a:latin typeface="Arial"/>
              <a:ea typeface="Arial"/>
              <a:cs typeface="Arial"/>
              <a:sym typeface="Arial"/>
            </a:endParaRPr>
          </a:p>
        </p:txBody>
      </p:sp>
      <p:sp>
        <p:nvSpPr>
          <p:cNvPr id="255" name="Google Shape;255;p13"/>
          <p:cNvSpPr txBox="1"/>
          <p:nvPr/>
        </p:nvSpPr>
        <p:spPr>
          <a:xfrm>
            <a:off x="55109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5</a:t>
            </a:r>
            <a:endParaRPr b="1" i="0" sz="1600" u="none" cap="none" strike="noStrike">
              <a:solidFill>
                <a:schemeClr val="dk1"/>
              </a:solidFill>
              <a:latin typeface="Arial"/>
              <a:ea typeface="Arial"/>
              <a:cs typeface="Arial"/>
              <a:sym typeface="Arial"/>
            </a:endParaRPr>
          </a:p>
        </p:txBody>
      </p:sp>
      <p:sp>
        <p:nvSpPr>
          <p:cNvPr id="256" name="Google Shape;256;p13"/>
          <p:cNvSpPr txBox="1"/>
          <p:nvPr/>
        </p:nvSpPr>
        <p:spPr>
          <a:xfrm>
            <a:off x="58865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6</a:t>
            </a:r>
            <a:endParaRPr b="1" i="0" sz="1600" u="none" cap="none" strike="noStrike">
              <a:solidFill>
                <a:schemeClr val="dk1"/>
              </a:solidFill>
              <a:latin typeface="Arial"/>
              <a:ea typeface="Arial"/>
              <a:cs typeface="Arial"/>
              <a:sym typeface="Arial"/>
            </a:endParaRPr>
          </a:p>
        </p:txBody>
      </p:sp>
      <p:sp>
        <p:nvSpPr>
          <p:cNvPr id="257" name="Google Shape;257;p13"/>
          <p:cNvSpPr txBox="1"/>
          <p:nvPr/>
        </p:nvSpPr>
        <p:spPr>
          <a:xfrm>
            <a:off x="62621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7</a:t>
            </a:r>
            <a:endParaRPr b="1" i="0" sz="1600" u="none" cap="none" strike="noStrike">
              <a:solidFill>
                <a:schemeClr val="dk1"/>
              </a:solidFill>
              <a:latin typeface="Arial"/>
              <a:ea typeface="Arial"/>
              <a:cs typeface="Arial"/>
              <a:sym typeface="Arial"/>
            </a:endParaRPr>
          </a:p>
        </p:txBody>
      </p:sp>
      <p:sp>
        <p:nvSpPr>
          <p:cNvPr id="258" name="Google Shape;258;p13"/>
          <p:cNvSpPr txBox="1"/>
          <p:nvPr/>
        </p:nvSpPr>
        <p:spPr>
          <a:xfrm>
            <a:off x="66377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8</a:t>
            </a:r>
            <a:endParaRPr b="1" i="0" sz="1600" u="none" cap="none" strike="noStrike">
              <a:solidFill>
                <a:schemeClr val="dk1"/>
              </a:solidFill>
              <a:latin typeface="Arial"/>
              <a:ea typeface="Arial"/>
              <a:cs typeface="Arial"/>
              <a:sym typeface="Arial"/>
            </a:endParaRPr>
          </a:p>
        </p:txBody>
      </p:sp>
      <p:sp>
        <p:nvSpPr>
          <p:cNvPr id="259" name="Google Shape;259;p13"/>
          <p:cNvSpPr/>
          <p:nvPr/>
        </p:nvSpPr>
        <p:spPr>
          <a:xfrm rot="-5400000">
            <a:off x="3865700" y="3086225"/>
            <a:ext cx="98100" cy="519300"/>
          </a:xfrm>
          <a:prstGeom prst="lef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13"/>
          <p:cNvSpPr txBox="1"/>
          <p:nvPr/>
        </p:nvSpPr>
        <p:spPr>
          <a:xfrm>
            <a:off x="2410315" y="3338813"/>
            <a:ext cx="30000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70000"/>
              </a:lnSpc>
              <a:spcBef>
                <a:spcPts val="0"/>
              </a:spcBef>
              <a:spcAft>
                <a:spcPts val="0"/>
              </a:spcAft>
              <a:buClr>
                <a:srgbClr val="000000"/>
              </a:buClr>
              <a:buSzPts val="1000"/>
              <a:buFont typeface="Arial"/>
              <a:buNone/>
            </a:pPr>
            <a:r>
              <a:rPr b="0" i="1" lang="en" sz="1000" u="none" cap="none" strike="noStrike">
                <a:solidFill>
                  <a:schemeClr val="dk1"/>
                </a:solidFill>
                <a:latin typeface="Arial"/>
                <a:ea typeface="Arial"/>
                <a:cs typeface="Arial"/>
                <a:sym typeface="Arial"/>
              </a:rPr>
              <a:t>fsp</a:t>
            </a:r>
            <a:endParaRPr b="0" i="1" sz="1000" u="none" cap="none" strike="noStrike">
              <a:solidFill>
                <a:schemeClr val="dk1"/>
              </a:solidFill>
              <a:latin typeface="Arial"/>
              <a:ea typeface="Arial"/>
              <a:cs typeface="Arial"/>
              <a:sym typeface="Arial"/>
            </a:endParaRPr>
          </a:p>
          <a:p>
            <a:pPr indent="0" lvl="0" marL="0" marR="0" rtl="0" algn="ctr">
              <a:lnSpc>
                <a:spcPct val="70000"/>
              </a:lnSpc>
              <a:spcBef>
                <a:spcPts val="0"/>
              </a:spcBef>
              <a:spcAft>
                <a:spcPts val="0"/>
              </a:spcAft>
              <a:buClr>
                <a:srgbClr val="000000"/>
              </a:buClr>
              <a:buSzPts val="1000"/>
              <a:buFont typeface="Arial"/>
              <a:buNone/>
            </a:pPr>
            <a:r>
              <a:rPr b="0" i="0" lang="en" sz="1000" u="none" cap="none" strike="noStrike">
                <a:solidFill>
                  <a:schemeClr val="dk1"/>
                </a:solidFill>
                <a:latin typeface="Arial"/>
                <a:ea typeface="Arial"/>
                <a:cs typeface="Arial"/>
                <a:sym typeface="Arial"/>
              </a:rPr>
              <a:t>(fractional seconds precision)</a:t>
            </a:r>
            <a:endParaRPr b="0" i="0" sz="1000" u="none" cap="none" strike="noStrike">
              <a:solidFill>
                <a:srgbClr val="000000"/>
              </a:solidFill>
              <a:latin typeface="Arial"/>
              <a:ea typeface="Arial"/>
              <a:cs typeface="Arial"/>
              <a:sym typeface="Arial"/>
            </a:endParaRPr>
          </a:p>
        </p:txBody>
      </p:sp>
      <p:sp>
        <p:nvSpPr>
          <p:cNvPr id="261" name="Google Shape;261;p13"/>
          <p:cNvSpPr txBox="1"/>
          <p:nvPr/>
        </p:nvSpPr>
        <p:spPr>
          <a:xfrm>
            <a:off x="311700" y="3694645"/>
            <a:ext cx="8520600" cy="74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chemeClr val="dk1"/>
                </a:solidFill>
                <a:latin typeface="Arial"/>
                <a:ea typeface="Arial"/>
                <a:cs typeface="Arial"/>
                <a:sym typeface="Arial"/>
              </a:rPr>
              <a:t>fsp </a:t>
            </a:r>
            <a:r>
              <a:rPr b="0" i="0" lang="en" sz="1400" u="none" cap="none" strike="noStrike">
                <a:solidFill>
                  <a:schemeClr val="dk1"/>
                </a:solidFill>
                <a:latin typeface="Arial"/>
                <a:ea typeface="Arial"/>
                <a:cs typeface="Arial"/>
                <a:sym typeface="Arial"/>
              </a:rPr>
              <a:t>(</a:t>
            </a:r>
            <a:r>
              <a:rPr b="1" i="0" lang="en" sz="1400" u="none" cap="none" strike="noStrike">
                <a:solidFill>
                  <a:schemeClr val="dk1"/>
                </a:solidFill>
                <a:latin typeface="Arial"/>
                <a:ea typeface="Arial"/>
                <a:cs typeface="Arial"/>
                <a:sym typeface="Arial"/>
              </a:rPr>
              <a:t>f</a:t>
            </a:r>
            <a:r>
              <a:rPr b="0" i="0" lang="en" sz="1400" u="none" cap="none" strike="noStrike">
                <a:solidFill>
                  <a:schemeClr val="dk1"/>
                </a:solidFill>
                <a:latin typeface="Arial"/>
                <a:ea typeface="Arial"/>
                <a:cs typeface="Arial"/>
                <a:sym typeface="Arial"/>
              </a:rPr>
              <a:t>ractional </a:t>
            </a:r>
            <a:r>
              <a:rPr b="1" i="0" lang="en" sz="1400" u="none" cap="none" strike="noStrike">
                <a:solidFill>
                  <a:schemeClr val="dk1"/>
                </a:solidFill>
                <a:latin typeface="Arial"/>
                <a:ea typeface="Arial"/>
                <a:cs typeface="Arial"/>
                <a:sym typeface="Arial"/>
              </a:rPr>
              <a:t>s</a:t>
            </a:r>
            <a:r>
              <a:rPr b="0" i="0" lang="en" sz="1400" u="none" cap="none" strike="noStrike">
                <a:solidFill>
                  <a:schemeClr val="dk1"/>
                </a:solidFill>
                <a:latin typeface="Arial"/>
                <a:ea typeface="Arial"/>
                <a:cs typeface="Arial"/>
                <a:sym typeface="Arial"/>
              </a:rPr>
              <a:t>econds </a:t>
            </a:r>
            <a:r>
              <a:rPr b="1" i="0" lang="en" sz="1400" u="none" cap="none" strike="noStrike">
                <a:solidFill>
                  <a:schemeClr val="dk1"/>
                </a:solidFill>
                <a:latin typeface="Arial"/>
                <a:ea typeface="Arial"/>
                <a:cs typeface="Arial"/>
                <a:sym typeface="Arial"/>
              </a:rPr>
              <a:t>p</a:t>
            </a:r>
            <a:r>
              <a:rPr b="0" i="0" lang="en" sz="1400" u="none" cap="none" strike="noStrike">
                <a:solidFill>
                  <a:schemeClr val="dk1"/>
                </a:solidFill>
                <a:latin typeface="Arial"/>
                <a:ea typeface="Arial"/>
                <a:cs typeface="Arial"/>
                <a:sym typeface="Arial"/>
              </a:rPr>
              <a:t>recision)</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100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number of digits following the decimal point for fractional parts of seconds, from 0 to 6</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4"/>
          <p:cNvSpPr txBox="1"/>
          <p:nvPr>
            <p:ph idx="1" type="body"/>
          </p:nvPr>
        </p:nvSpPr>
        <p:spPr>
          <a:xfrm>
            <a:off x="311700" y="1152475"/>
            <a:ext cx="8520600" cy="25950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lang="en">
                <a:solidFill>
                  <a:schemeClr val="dk1"/>
                </a:solidFill>
              </a:rPr>
              <a:t>Every table should include a column that uniquely identifies each row</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The unique column is the </a:t>
            </a:r>
            <a:r>
              <a:rPr b="1" lang="en">
                <a:solidFill>
                  <a:schemeClr val="dk1"/>
                </a:solidFill>
              </a:rPr>
              <a:t>primary key</a:t>
            </a:r>
            <a:r>
              <a:rPr lang="en">
                <a:solidFill>
                  <a:schemeClr val="dk1"/>
                </a:solidFill>
              </a:rPr>
              <a:t> for the table</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Primary key is referenced </a:t>
            </a:r>
            <a:r>
              <a:rPr i="1" lang="en">
                <a:solidFill>
                  <a:schemeClr val="dk1"/>
                </a:solidFill>
              </a:rPr>
              <a:t>(by FK*)</a:t>
            </a:r>
            <a:r>
              <a:rPr lang="en">
                <a:solidFill>
                  <a:schemeClr val="dk1"/>
                </a:solidFill>
              </a:rPr>
              <a:t> in </a:t>
            </a:r>
            <a:r>
              <a:rPr b="1" lang="en">
                <a:solidFill>
                  <a:schemeClr val="dk1"/>
                </a:solidFill>
              </a:rPr>
              <a:t>creating </a:t>
            </a:r>
            <a:r>
              <a:rPr lang="en">
                <a:solidFill>
                  <a:schemeClr val="dk1"/>
                </a:solidFill>
              </a:rPr>
              <a:t>the </a:t>
            </a:r>
            <a:r>
              <a:rPr b="1" lang="en">
                <a:solidFill>
                  <a:schemeClr val="dk1"/>
                </a:solidFill>
              </a:rPr>
              <a:t>links </a:t>
            </a:r>
            <a:r>
              <a:rPr lang="en">
                <a:solidFill>
                  <a:schemeClr val="dk1"/>
                </a:solidFill>
              </a:rPr>
              <a:t>(relationships) </a:t>
            </a:r>
            <a:r>
              <a:rPr b="1" lang="en">
                <a:solidFill>
                  <a:schemeClr val="dk1"/>
                </a:solidFill>
              </a:rPr>
              <a:t>between tables</a:t>
            </a:r>
            <a:endParaRPr b="1">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The primary key must be different in every row, there </a:t>
            </a:r>
            <a:r>
              <a:rPr b="1" lang="en">
                <a:solidFill>
                  <a:schemeClr val="dk1"/>
                </a:solidFill>
              </a:rPr>
              <a:t>cannot be duplicated values</a:t>
            </a:r>
            <a:endParaRPr b="1">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Primary keys </a:t>
            </a:r>
            <a:r>
              <a:rPr b="1" lang="en">
                <a:solidFill>
                  <a:schemeClr val="dk1"/>
                </a:solidFill>
              </a:rPr>
              <a:t>should not change</a:t>
            </a:r>
            <a:r>
              <a:rPr lang="en">
                <a:solidFill>
                  <a:schemeClr val="dk1"/>
                </a:solidFill>
              </a:rPr>
              <a:t> their value</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Primary Keys can be any column in your table, as long as they are unique</a:t>
            </a:r>
            <a:endParaRPr>
              <a:solidFill>
                <a:schemeClr val="dk1"/>
              </a:solidFill>
            </a:endParaRPr>
          </a:p>
          <a:p>
            <a:pPr indent="-317500" lvl="1" marL="914400" rtl="0" algn="l">
              <a:lnSpc>
                <a:spcPct val="115000"/>
              </a:lnSpc>
              <a:spcBef>
                <a:spcPts val="0"/>
              </a:spcBef>
              <a:spcAft>
                <a:spcPts val="0"/>
              </a:spcAft>
              <a:buClr>
                <a:schemeClr val="dk1"/>
              </a:buClr>
              <a:buSzPts val="1400"/>
              <a:buAutoNum type="romanLcPeriod"/>
            </a:pPr>
            <a:r>
              <a:rPr lang="en">
                <a:solidFill>
                  <a:schemeClr val="dk1"/>
                </a:solidFill>
              </a:rPr>
              <a:t>The key can be a column of data that is unique</a:t>
            </a:r>
            <a:endParaRPr>
              <a:solidFill>
                <a:schemeClr val="dk1"/>
              </a:solidFill>
            </a:endParaRPr>
          </a:p>
          <a:p>
            <a:pPr indent="-317500" lvl="1" marL="914400" rtl="0" algn="l">
              <a:lnSpc>
                <a:spcPct val="115000"/>
              </a:lnSpc>
              <a:spcBef>
                <a:spcPts val="0"/>
              </a:spcBef>
              <a:spcAft>
                <a:spcPts val="0"/>
              </a:spcAft>
              <a:buClr>
                <a:schemeClr val="dk1"/>
              </a:buClr>
              <a:buSzPts val="1400"/>
              <a:buAutoNum type="romanLcPeriod"/>
            </a:pPr>
            <a:r>
              <a:rPr lang="en">
                <a:solidFill>
                  <a:schemeClr val="dk1"/>
                </a:solidFill>
              </a:rPr>
              <a:t>The key can also be a combination of columns that when combined make a unique value</a:t>
            </a:r>
            <a:endParaRPr>
              <a:solidFill>
                <a:schemeClr val="dk1"/>
              </a:solidFill>
            </a:endParaRPr>
          </a:p>
          <a:p>
            <a:pPr indent="-317500" lvl="1" marL="914400" rtl="0" algn="l">
              <a:lnSpc>
                <a:spcPct val="115000"/>
              </a:lnSpc>
              <a:spcBef>
                <a:spcPts val="0"/>
              </a:spcBef>
              <a:spcAft>
                <a:spcPts val="0"/>
              </a:spcAft>
              <a:buClr>
                <a:schemeClr val="dk1"/>
              </a:buClr>
              <a:buSzPts val="1400"/>
              <a:buAutoNum type="romanLcPeriod"/>
            </a:pPr>
            <a:r>
              <a:rPr lang="en">
                <a:solidFill>
                  <a:schemeClr val="dk1"/>
                </a:solidFill>
              </a:rPr>
              <a:t>Typically creating an “id” column as the unique identifier is easiest</a:t>
            </a:r>
            <a:endParaRPr b="1">
              <a:solidFill>
                <a:schemeClr val="dk1"/>
              </a:solidFill>
            </a:endParaRPr>
          </a:p>
        </p:txBody>
      </p:sp>
      <p:sp>
        <p:nvSpPr>
          <p:cNvPr id="267" name="Google Shape;267;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Keys - Specify Primary Keys</a:t>
            </a:r>
            <a:endParaRPr b="1"/>
          </a:p>
        </p:txBody>
      </p:sp>
      <p:graphicFrame>
        <p:nvGraphicFramePr>
          <p:cNvPr id="268" name="Google Shape;268;p14"/>
          <p:cNvGraphicFramePr/>
          <p:nvPr/>
        </p:nvGraphicFramePr>
        <p:xfrm>
          <a:off x="624988" y="4234381"/>
          <a:ext cx="3000000" cy="3000000"/>
        </p:xfrm>
        <a:graphic>
          <a:graphicData uri="http://schemas.openxmlformats.org/drawingml/2006/table">
            <a:tbl>
              <a:tblPr>
                <a:noFill/>
                <a:tableStyleId>{533CA182-6C86-4926-9E63-D3446429D139}</a:tableStyleId>
              </a:tblPr>
              <a:tblGrid>
                <a:gridCol w="1259525"/>
                <a:gridCol w="1033400"/>
              </a:tblGrid>
              <a:tr h="165625">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latin typeface="Verdana"/>
                          <a:ea typeface="Verdana"/>
                          <a:cs typeface="Verdana"/>
                          <a:sym typeface="Verdana"/>
                        </a:rPr>
                        <a:t>number</a:t>
                      </a:r>
                      <a:endParaRPr b="1"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DDDFF"/>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latin typeface="Verdana"/>
                          <a:ea typeface="Verdana"/>
                          <a:cs typeface="Verdana"/>
                          <a:sym typeface="Verdana"/>
                        </a:rPr>
                        <a:t>name</a:t>
                      </a:r>
                      <a:endParaRPr b="1"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DDDFF"/>
                    </a:solidFill>
                  </a:tcPr>
                </a:tc>
              </a:tr>
              <a:tr h="2301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n01234567</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Auston Matthews</a:t>
                      </a:r>
                      <a:endParaRPr sz="1000" u="none" cap="none" strike="noStrike">
                        <a:solidFill>
                          <a:schemeClr val="dk1"/>
                        </a:solidFill>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bl>
          </a:graphicData>
        </a:graphic>
      </p:graphicFrame>
      <p:sp>
        <p:nvSpPr>
          <p:cNvPr id="269" name="Google Shape;269;p14"/>
          <p:cNvSpPr txBox="1"/>
          <p:nvPr/>
        </p:nvSpPr>
        <p:spPr>
          <a:xfrm>
            <a:off x="267400" y="4263638"/>
            <a:ext cx="3576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i.</a:t>
            </a:r>
            <a:endParaRPr b="1" i="0" sz="1400" u="none" cap="none" strike="noStrike">
              <a:solidFill>
                <a:schemeClr val="dk1"/>
              </a:solidFill>
              <a:latin typeface="Arial"/>
              <a:ea typeface="Arial"/>
              <a:cs typeface="Arial"/>
              <a:sym typeface="Arial"/>
            </a:endParaRPr>
          </a:p>
        </p:txBody>
      </p:sp>
      <p:graphicFrame>
        <p:nvGraphicFramePr>
          <p:cNvPr id="270" name="Google Shape;270;p14"/>
          <p:cNvGraphicFramePr/>
          <p:nvPr/>
        </p:nvGraphicFramePr>
        <p:xfrm>
          <a:off x="3708638" y="4234381"/>
          <a:ext cx="3000000" cy="3000000"/>
        </p:xfrm>
        <a:graphic>
          <a:graphicData uri="http://schemas.openxmlformats.org/drawingml/2006/table">
            <a:tbl>
              <a:tblPr>
                <a:noFill/>
                <a:tableStyleId>{533CA182-6C86-4926-9E63-D3446429D139}</a:tableStyleId>
              </a:tblPr>
              <a:tblGrid>
                <a:gridCol w="1078175"/>
                <a:gridCol w="1006200"/>
              </a:tblGrid>
              <a:tr h="165625">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latin typeface="Verdana"/>
                          <a:ea typeface="Verdana"/>
                          <a:cs typeface="Verdana"/>
                          <a:sym typeface="Verdana"/>
                        </a:rPr>
                        <a:t>code</a:t>
                      </a:r>
                      <a:endParaRPr b="1"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DDDFF"/>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latin typeface="Verdana"/>
                          <a:ea typeface="Verdana"/>
                          <a:cs typeface="Verdana"/>
                          <a:sym typeface="Verdana"/>
                        </a:rPr>
                        <a:t>instructor</a:t>
                      </a:r>
                      <a:endParaRPr b="1"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DDDFF"/>
                    </a:solidFill>
                  </a:tcPr>
                </a:tc>
              </a:tr>
              <a:tr h="2301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HTTP5126-A</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Matthew Bebis</a:t>
                      </a:r>
                      <a:endParaRPr sz="1000" u="none" cap="none" strike="noStrike">
                        <a:solidFill>
                          <a:schemeClr val="dk1"/>
                        </a:solidFill>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bl>
          </a:graphicData>
        </a:graphic>
      </p:graphicFrame>
      <p:sp>
        <p:nvSpPr>
          <p:cNvPr id="271" name="Google Shape;271;p14"/>
          <p:cNvSpPr txBox="1"/>
          <p:nvPr/>
        </p:nvSpPr>
        <p:spPr>
          <a:xfrm>
            <a:off x="3350975" y="4263638"/>
            <a:ext cx="3576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ii.</a:t>
            </a:r>
            <a:endParaRPr b="1" i="0" sz="1400" u="none" cap="none" strike="noStrike">
              <a:solidFill>
                <a:schemeClr val="dk1"/>
              </a:solidFill>
              <a:latin typeface="Arial"/>
              <a:ea typeface="Arial"/>
              <a:cs typeface="Arial"/>
              <a:sym typeface="Arial"/>
            </a:endParaRPr>
          </a:p>
        </p:txBody>
      </p:sp>
      <p:graphicFrame>
        <p:nvGraphicFramePr>
          <p:cNvPr id="272" name="Google Shape;272;p14"/>
          <p:cNvGraphicFramePr/>
          <p:nvPr/>
        </p:nvGraphicFramePr>
        <p:xfrm>
          <a:off x="6747925" y="4234381"/>
          <a:ext cx="3000000" cy="3000000"/>
        </p:xfrm>
        <a:graphic>
          <a:graphicData uri="http://schemas.openxmlformats.org/drawingml/2006/table">
            <a:tbl>
              <a:tblPr>
                <a:noFill/>
                <a:tableStyleId>{533CA182-6C86-4926-9E63-D3446429D139}</a:tableStyleId>
              </a:tblPr>
              <a:tblGrid>
                <a:gridCol w="1078175"/>
                <a:gridCol w="1006200"/>
              </a:tblGrid>
              <a:tr h="165625">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latin typeface="Verdana"/>
                          <a:ea typeface="Verdana"/>
                          <a:cs typeface="Verdana"/>
                          <a:sym typeface="Verdana"/>
                        </a:rPr>
                        <a:t>bus_id</a:t>
                      </a:r>
                      <a:endParaRPr b="1"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DDDFF"/>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latin typeface="Verdana"/>
                          <a:ea typeface="Verdana"/>
                          <a:cs typeface="Verdana"/>
                          <a:sym typeface="Verdana"/>
                        </a:rPr>
                        <a:t>route</a:t>
                      </a:r>
                      <a:endParaRPr b="1"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DDDFF"/>
                    </a:solidFill>
                  </a:tcPr>
                </a:tc>
              </a:tr>
              <a:tr h="2301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1</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508</a:t>
                      </a:r>
                      <a:endParaRPr sz="1000" u="none" cap="none" strike="noStrike">
                        <a:solidFill>
                          <a:schemeClr val="dk1"/>
                        </a:solidFill>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bl>
          </a:graphicData>
        </a:graphic>
      </p:graphicFrame>
      <p:sp>
        <p:nvSpPr>
          <p:cNvPr id="273" name="Google Shape;273;p14"/>
          <p:cNvSpPr txBox="1"/>
          <p:nvPr/>
        </p:nvSpPr>
        <p:spPr>
          <a:xfrm>
            <a:off x="6360751" y="4263638"/>
            <a:ext cx="387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iii.</a:t>
            </a:r>
            <a:endParaRPr b="1" i="0" sz="1400" u="none" cap="none" strike="noStrike">
              <a:solidFill>
                <a:schemeClr val="dk1"/>
              </a:solidFill>
              <a:latin typeface="Arial"/>
              <a:ea typeface="Arial"/>
              <a:cs typeface="Arial"/>
              <a:sym typeface="Arial"/>
            </a:endParaRPr>
          </a:p>
        </p:txBody>
      </p:sp>
      <p:sp>
        <p:nvSpPr>
          <p:cNvPr id="274" name="Google Shape;274;p14"/>
          <p:cNvSpPr txBox="1"/>
          <p:nvPr/>
        </p:nvSpPr>
        <p:spPr>
          <a:xfrm>
            <a:off x="3604375" y="3691538"/>
            <a:ext cx="2292900" cy="400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Composite Key</a:t>
            </a:r>
            <a:endParaRPr b="1" i="0" sz="1400" u="none" cap="none" strike="noStrike">
              <a:solidFill>
                <a:schemeClr val="dk1"/>
              </a:solidFill>
              <a:latin typeface="Arial"/>
              <a:ea typeface="Arial"/>
              <a:cs typeface="Arial"/>
              <a:sym typeface="Arial"/>
            </a:endParaRPr>
          </a:p>
        </p:txBody>
      </p:sp>
      <p:sp>
        <p:nvSpPr>
          <p:cNvPr id="275" name="Google Shape;275;p14"/>
          <p:cNvSpPr/>
          <p:nvPr/>
        </p:nvSpPr>
        <p:spPr>
          <a:xfrm rot="5400000">
            <a:off x="4082050" y="3635150"/>
            <a:ext cx="201000" cy="924600"/>
          </a:xfrm>
          <a:prstGeom prst="leftBrace">
            <a:avLst>
              <a:gd fmla="val 50000" name="adj1"/>
              <a:gd fmla="val 33331"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4"/>
          <p:cNvSpPr/>
          <p:nvPr/>
        </p:nvSpPr>
        <p:spPr>
          <a:xfrm rot="5400000">
            <a:off x="1118698" y="3585350"/>
            <a:ext cx="201000" cy="1024200"/>
          </a:xfrm>
          <a:prstGeom prst="leftBrace">
            <a:avLst>
              <a:gd fmla="val 50000" name="adj1"/>
              <a:gd fmla="val 500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4"/>
          <p:cNvSpPr txBox="1"/>
          <p:nvPr/>
        </p:nvSpPr>
        <p:spPr>
          <a:xfrm>
            <a:off x="72750" y="3672488"/>
            <a:ext cx="2292900" cy="400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Primary Key</a:t>
            </a:r>
            <a:endParaRPr b="1" i="0" sz="1400" u="none" cap="none" strike="noStrike">
              <a:solidFill>
                <a:schemeClr val="dk1"/>
              </a:solidFill>
              <a:latin typeface="Arial"/>
              <a:ea typeface="Arial"/>
              <a:cs typeface="Arial"/>
              <a:sym typeface="Arial"/>
            </a:endParaRPr>
          </a:p>
        </p:txBody>
      </p:sp>
      <p:sp>
        <p:nvSpPr>
          <p:cNvPr id="278" name="Google Shape;278;p14"/>
          <p:cNvSpPr txBox="1"/>
          <p:nvPr/>
        </p:nvSpPr>
        <p:spPr>
          <a:xfrm>
            <a:off x="3138985" y="3684546"/>
            <a:ext cx="10242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(Primary)</a:t>
            </a:r>
            <a:endParaRPr b="0" i="0" sz="1400" u="none" cap="none" strike="noStrike">
              <a:solidFill>
                <a:srgbClr val="000000"/>
              </a:solidFill>
              <a:latin typeface="Arial"/>
              <a:ea typeface="Arial"/>
              <a:cs typeface="Arial"/>
              <a:sym typeface="Arial"/>
            </a:endParaRPr>
          </a:p>
        </p:txBody>
      </p:sp>
      <p:sp>
        <p:nvSpPr>
          <p:cNvPr id="279" name="Google Shape;279;p14"/>
          <p:cNvSpPr/>
          <p:nvPr/>
        </p:nvSpPr>
        <p:spPr>
          <a:xfrm rot="5400000">
            <a:off x="7174550" y="3652250"/>
            <a:ext cx="201000" cy="890400"/>
          </a:xfrm>
          <a:prstGeom prst="leftBrace">
            <a:avLst>
              <a:gd fmla="val 50000" name="adj1"/>
              <a:gd fmla="val 500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4"/>
          <p:cNvSpPr txBox="1"/>
          <p:nvPr/>
        </p:nvSpPr>
        <p:spPr>
          <a:xfrm>
            <a:off x="6128600" y="3672488"/>
            <a:ext cx="2292900" cy="400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Primary Key</a:t>
            </a:r>
            <a:endParaRPr b="1" i="0" sz="1400" u="none" cap="none" strike="noStrike">
              <a:solidFill>
                <a:schemeClr val="dk1"/>
              </a:solidFill>
              <a:latin typeface="Arial"/>
              <a:ea typeface="Arial"/>
              <a:cs typeface="Arial"/>
              <a:sym typeface="Arial"/>
            </a:endParaRPr>
          </a:p>
        </p:txBody>
      </p:sp>
      <p:sp>
        <p:nvSpPr>
          <p:cNvPr id="281" name="Google Shape;281;p14"/>
          <p:cNvSpPr/>
          <p:nvPr/>
        </p:nvSpPr>
        <p:spPr>
          <a:xfrm rot="5400000">
            <a:off x="5238625" y="3662150"/>
            <a:ext cx="201000" cy="870600"/>
          </a:xfrm>
          <a:prstGeom prst="leftBrace">
            <a:avLst>
              <a:gd fmla="val 50000" name="adj1"/>
              <a:gd fmla="val 68608"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4"/>
          <p:cNvSpPr/>
          <p:nvPr/>
        </p:nvSpPr>
        <p:spPr>
          <a:xfrm>
            <a:off x="4673838" y="3996950"/>
            <a:ext cx="201000" cy="201000"/>
          </a:xfrm>
          <a:prstGeom prst="mathPlus">
            <a:avLst>
              <a:gd fmla="val 9384"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4"/>
          <p:cNvSpPr txBox="1"/>
          <p:nvPr/>
        </p:nvSpPr>
        <p:spPr>
          <a:xfrm>
            <a:off x="-39573" y="-28432"/>
            <a:ext cx="3000000" cy="515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1" lang="en" sz="1000" u="none" cap="none" strike="noStrike">
                <a:solidFill>
                  <a:schemeClr val="dk1"/>
                </a:solidFill>
                <a:latin typeface="Arial"/>
                <a:ea typeface="Arial"/>
                <a:cs typeface="Arial"/>
                <a:sym typeface="Arial"/>
              </a:rPr>
              <a:t>*FK = Foreign Key</a:t>
            </a:r>
            <a:endParaRPr b="0" i="1" sz="1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1" lang="en" sz="1000" u="none" cap="none" strike="noStrike">
                <a:solidFill>
                  <a:schemeClr val="dk1"/>
                </a:solidFill>
                <a:latin typeface="Arial"/>
                <a:ea typeface="Arial"/>
                <a:cs typeface="Arial"/>
                <a:sym typeface="Arial"/>
              </a:rPr>
              <a:t>PK = Primary Key</a:t>
            </a:r>
            <a:endParaRPr b="0" i="1" sz="1000" u="none" cap="none" strike="noStrike">
              <a:solidFill>
                <a:schemeClr val="dk1"/>
              </a:solidFill>
              <a:latin typeface="Arial"/>
              <a:ea typeface="Arial"/>
              <a:cs typeface="Arial"/>
              <a:sym typeface="Arial"/>
            </a:endParaRPr>
          </a:p>
        </p:txBody>
      </p:sp>
      <p:sp>
        <p:nvSpPr>
          <p:cNvPr id="284" name="Google Shape;284;p14"/>
          <p:cNvSpPr/>
          <p:nvPr/>
        </p:nvSpPr>
        <p:spPr>
          <a:xfrm flipH="1" rot="10800000">
            <a:off x="3633088" y="-4100"/>
            <a:ext cx="2253300" cy="328800"/>
          </a:xfrm>
          <a:prstGeom prst="round2SameRect">
            <a:avLst>
              <a:gd fmla="val 16667" name="adj1"/>
              <a:gd fmla="val 0" name="adj2"/>
            </a:avLst>
          </a:prstGeom>
          <a:solidFill>
            <a:srgbClr val="36363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4"/>
          <p:cNvSpPr txBox="1"/>
          <p:nvPr/>
        </p:nvSpPr>
        <p:spPr>
          <a:xfrm>
            <a:off x="3636188" y="-60175"/>
            <a:ext cx="22503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Arial"/>
                <a:ea typeface="Arial"/>
                <a:cs typeface="Arial"/>
                <a:sym typeface="Arial"/>
              </a:rPr>
              <a:t>5 - Primary Keys</a:t>
            </a:r>
            <a:endParaRPr b="1" i="0" sz="1600" u="none" cap="none" strike="noStrike">
              <a:solidFill>
                <a:schemeClr val="dk1"/>
              </a:solidFill>
              <a:latin typeface="Arial"/>
              <a:ea typeface="Arial"/>
              <a:cs typeface="Arial"/>
              <a:sym typeface="Arial"/>
            </a:endParaRPr>
          </a:p>
        </p:txBody>
      </p:sp>
      <p:sp>
        <p:nvSpPr>
          <p:cNvPr id="286" name="Google Shape;286;p14"/>
          <p:cNvSpPr txBox="1"/>
          <p:nvPr/>
        </p:nvSpPr>
        <p:spPr>
          <a:xfrm>
            <a:off x="21306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1</a:t>
            </a:r>
            <a:endParaRPr b="1" i="0" sz="1600" u="none" cap="none" strike="noStrike">
              <a:solidFill>
                <a:schemeClr val="dk1"/>
              </a:solidFill>
              <a:latin typeface="Arial"/>
              <a:ea typeface="Arial"/>
              <a:cs typeface="Arial"/>
              <a:sym typeface="Arial"/>
            </a:endParaRPr>
          </a:p>
        </p:txBody>
      </p:sp>
      <p:sp>
        <p:nvSpPr>
          <p:cNvPr id="287" name="Google Shape;287;p14"/>
          <p:cNvSpPr txBox="1"/>
          <p:nvPr/>
        </p:nvSpPr>
        <p:spPr>
          <a:xfrm>
            <a:off x="25062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2</a:t>
            </a:r>
            <a:endParaRPr b="1" i="0" sz="1600" u="none" cap="none" strike="noStrike">
              <a:solidFill>
                <a:schemeClr val="dk1"/>
              </a:solidFill>
              <a:latin typeface="Arial"/>
              <a:ea typeface="Arial"/>
              <a:cs typeface="Arial"/>
              <a:sym typeface="Arial"/>
            </a:endParaRPr>
          </a:p>
        </p:txBody>
      </p:sp>
      <p:sp>
        <p:nvSpPr>
          <p:cNvPr id="288" name="Google Shape;288;p14"/>
          <p:cNvSpPr txBox="1"/>
          <p:nvPr/>
        </p:nvSpPr>
        <p:spPr>
          <a:xfrm>
            <a:off x="28818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3</a:t>
            </a:r>
            <a:endParaRPr b="1" i="0" sz="1600" u="none" cap="none" strike="noStrike">
              <a:solidFill>
                <a:schemeClr val="dk1"/>
              </a:solidFill>
              <a:latin typeface="Arial"/>
              <a:ea typeface="Arial"/>
              <a:cs typeface="Arial"/>
              <a:sym typeface="Arial"/>
            </a:endParaRPr>
          </a:p>
        </p:txBody>
      </p:sp>
      <p:sp>
        <p:nvSpPr>
          <p:cNvPr id="289" name="Google Shape;289;p14"/>
          <p:cNvSpPr txBox="1"/>
          <p:nvPr/>
        </p:nvSpPr>
        <p:spPr>
          <a:xfrm>
            <a:off x="32574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4</a:t>
            </a:r>
            <a:endParaRPr b="1" i="0" sz="1600" u="none" cap="none" strike="noStrike">
              <a:solidFill>
                <a:schemeClr val="dk1"/>
              </a:solidFill>
              <a:latin typeface="Arial"/>
              <a:ea typeface="Arial"/>
              <a:cs typeface="Arial"/>
              <a:sym typeface="Arial"/>
            </a:endParaRPr>
          </a:p>
        </p:txBody>
      </p:sp>
      <p:sp>
        <p:nvSpPr>
          <p:cNvPr id="290" name="Google Shape;290;p14"/>
          <p:cNvSpPr txBox="1"/>
          <p:nvPr/>
        </p:nvSpPr>
        <p:spPr>
          <a:xfrm>
            <a:off x="58865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6</a:t>
            </a:r>
            <a:endParaRPr b="1" i="0" sz="1600" u="none" cap="none" strike="noStrike">
              <a:solidFill>
                <a:schemeClr val="dk1"/>
              </a:solidFill>
              <a:latin typeface="Arial"/>
              <a:ea typeface="Arial"/>
              <a:cs typeface="Arial"/>
              <a:sym typeface="Arial"/>
            </a:endParaRPr>
          </a:p>
        </p:txBody>
      </p:sp>
      <p:sp>
        <p:nvSpPr>
          <p:cNvPr id="291" name="Google Shape;291;p14"/>
          <p:cNvSpPr txBox="1"/>
          <p:nvPr/>
        </p:nvSpPr>
        <p:spPr>
          <a:xfrm>
            <a:off x="62621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7</a:t>
            </a:r>
            <a:endParaRPr b="1" i="0" sz="1600" u="none" cap="none" strike="noStrike">
              <a:solidFill>
                <a:schemeClr val="dk1"/>
              </a:solidFill>
              <a:latin typeface="Arial"/>
              <a:ea typeface="Arial"/>
              <a:cs typeface="Arial"/>
              <a:sym typeface="Arial"/>
            </a:endParaRPr>
          </a:p>
        </p:txBody>
      </p:sp>
      <p:sp>
        <p:nvSpPr>
          <p:cNvPr id="292" name="Google Shape;292;p14"/>
          <p:cNvSpPr txBox="1"/>
          <p:nvPr/>
        </p:nvSpPr>
        <p:spPr>
          <a:xfrm>
            <a:off x="6637750" y="-60175"/>
            <a:ext cx="3756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8</a:t>
            </a:r>
            <a:endParaRPr b="1" i="0" sz="16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5"/>
          <p:cNvSpPr txBox="1"/>
          <p:nvPr/>
        </p:nvSpPr>
        <p:spPr>
          <a:xfrm>
            <a:off x="6130613" y="3201102"/>
            <a:ext cx="23799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1" lang="en" sz="1600" u="none" cap="none" strike="noStrike">
                <a:solidFill>
                  <a:schemeClr val="dk1"/>
                </a:solidFill>
                <a:latin typeface="Arial"/>
                <a:ea typeface="Arial"/>
                <a:cs typeface="Arial"/>
                <a:sym typeface="Arial"/>
              </a:rPr>
              <a:t>director</a:t>
            </a:r>
            <a:endParaRPr b="0" i="1" sz="1600" u="none" cap="none" strike="noStrike">
              <a:solidFill>
                <a:schemeClr val="dk1"/>
              </a:solidFill>
              <a:latin typeface="Arial"/>
              <a:ea typeface="Arial"/>
              <a:cs typeface="Arial"/>
              <a:sym typeface="Arial"/>
            </a:endParaRPr>
          </a:p>
        </p:txBody>
      </p:sp>
      <p:sp>
        <p:nvSpPr>
          <p:cNvPr id="298" name="Google Shape;298;p15"/>
          <p:cNvSpPr txBox="1"/>
          <p:nvPr>
            <p:ph idx="1" type="body"/>
          </p:nvPr>
        </p:nvSpPr>
        <p:spPr>
          <a:xfrm>
            <a:off x="311700" y="1017725"/>
            <a:ext cx="8520600" cy="966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b="1" lang="en">
                <a:solidFill>
                  <a:schemeClr val="dk1"/>
                </a:solidFill>
              </a:rPr>
              <a:t>Primary Key</a:t>
            </a:r>
            <a:endParaRPr b="1">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Should follow all column naming conventions (Week 2) </a:t>
            </a:r>
            <a:r>
              <a:rPr i="1" lang="en">
                <a:solidFill>
                  <a:schemeClr val="dk1"/>
                </a:solidFill>
              </a:rPr>
              <a:t>AND</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Should be named: </a:t>
            </a:r>
            <a:r>
              <a:rPr i="1" lang="en">
                <a:solidFill>
                  <a:schemeClr val="dk1"/>
                </a:solidFill>
              </a:rPr>
              <a:t>id</a:t>
            </a:r>
            <a:endParaRPr i="1">
              <a:solidFill>
                <a:schemeClr val="dk1"/>
              </a:solidFill>
            </a:endParaRPr>
          </a:p>
        </p:txBody>
      </p:sp>
      <p:sp>
        <p:nvSpPr>
          <p:cNvPr id="299" name="Google Shape;299;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Keys - Naming Conventions</a:t>
            </a:r>
            <a:endParaRPr b="1"/>
          </a:p>
        </p:txBody>
      </p:sp>
      <p:graphicFrame>
        <p:nvGraphicFramePr>
          <p:cNvPr id="300" name="Google Shape;300;p15"/>
          <p:cNvGraphicFramePr/>
          <p:nvPr/>
        </p:nvGraphicFramePr>
        <p:xfrm>
          <a:off x="593763" y="3571213"/>
          <a:ext cx="3000000" cy="3000000"/>
        </p:xfrm>
        <a:graphic>
          <a:graphicData uri="http://schemas.openxmlformats.org/drawingml/2006/table">
            <a:tbl>
              <a:tblPr>
                <a:noFill/>
                <a:tableStyleId>{533CA182-6C86-4926-9E63-D3446429D139}</a:tableStyleId>
              </a:tblPr>
              <a:tblGrid>
                <a:gridCol w="1095475"/>
                <a:gridCol w="2491500"/>
              </a:tblGrid>
              <a:tr h="200025">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latin typeface="Verdana"/>
                          <a:ea typeface="Verdana"/>
                          <a:cs typeface="Verdana"/>
                          <a:sym typeface="Verdana"/>
                        </a:rPr>
                        <a:t>id (PK)</a:t>
                      </a:r>
                      <a:endParaRPr b="1"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DDDFF"/>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latin typeface="Verdana"/>
                          <a:ea typeface="Verdana"/>
                          <a:cs typeface="Verdana"/>
                          <a:sym typeface="Verdana"/>
                        </a:rPr>
                        <a:t>title</a:t>
                      </a:r>
                      <a:endParaRPr b="1"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DDDFF"/>
                    </a:solidFill>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latin typeface="Verdana"/>
                          <a:ea typeface="Verdana"/>
                          <a:cs typeface="Verdana"/>
                          <a:sym typeface="Verdana"/>
                        </a:rPr>
                        <a:t>1</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Verdana"/>
                          <a:ea typeface="Verdana"/>
                          <a:cs typeface="Verdana"/>
                          <a:sym typeface="Verdana"/>
                        </a:rPr>
                        <a:t>The Banshees of Inisherin</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latin typeface="Verdana"/>
                          <a:ea typeface="Verdana"/>
                          <a:cs typeface="Verdana"/>
                          <a:sym typeface="Verdana"/>
                        </a:rPr>
                        <a:t>2</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5F5F5"/>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Verdana"/>
                          <a:ea typeface="Verdana"/>
                          <a:cs typeface="Verdana"/>
                          <a:sym typeface="Verdana"/>
                        </a:rPr>
                        <a:t>The Truman Show</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5F5F5"/>
                    </a:solidFill>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latin typeface="Verdana"/>
                          <a:ea typeface="Verdana"/>
                          <a:cs typeface="Verdana"/>
                          <a:sym typeface="Verdana"/>
                        </a:rPr>
                        <a:t>3</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Verdana"/>
                          <a:ea typeface="Verdana"/>
                          <a:cs typeface="Verdana"/>
                          <a:sym typeface="Verdana"/>
                        </a:rPr>
                        <a:t>Eternal Sunshine of the Spotless Mind</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latin typeface="Verdana"/>
                          <a:ea typeface="Verdana"/>
                          <a:cs typeface="Verdana"/>
                          <a:sym typeface="Verdana"/>
                        </a:rPr>
                        <a:t>4</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5F5F5"/>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Verdana"/>
                          <a:ea typeface="Verdana"/>
                          <a:cs typeface="Verdana"/>
                          <a:sym typeface="Verdana"/>
                        </a:rPr>
                        <a:t>The Dark Knight</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5F5F5"/>
                    </a:solidFill>
                  </a:tcPr>
                </a:tc>
              </a:tr>
            </a:tbl>
          </a:graphicData>
        </a:graphic>
      </p:graphicFrame>
      <p:graphicFrame>
        <p:nvGraphicFramePr>
          <p:cNvPr id="301" name="Google Shape;301;p15"/>
          <p:cNvGraphicFramePr/>
          <p:nvPr/>
        </p:nvGraphicFramePr>
        <p:xfrm>
          <a:off x="6090888" y="3571213"/>
          <a:ext cx="3000000" cy="3000000"/>
        </p:xfrm>
        <a:graphic>
          <a:graphicData uri="http://schemas.openxmlformats.org/drawingml/2006/table">
            <a:tbl>
              <a:tblPr>
                <a:noFill/>
                <a:tableStyleId>{533CA182-6C86-4926-9E63-D3446429D139}</a:tableStyleId>
              </a:tblPr>
              <a:tblGrid>
                <a:gridCol w="1240150"/>
                <a:gridCol w="1219200"/>
              </a:tblGrid>
              <a:tr h="200025">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latin typeface="Verdana"/>
                          <a:ea typeface="Verdana"/>
                          <a:cs typeface="Verdana"/>
                          <a:sym typeface="Verdana"/>
                        </a:rPr>
                        <a:t>id </a:t>
                      </a:r>
                      <a:r>
                        <a:rPr b="1" lang="en" sz="1000" u="none" cap="none" strike="noStrike">
                          <a:solidFill>
                            <a:schemeClr val="dk1"/>
                          </a:solidFill>
                          <a:latin typeface="Verdana"/>
                          <a:ea typeface="Verdana"/>
                          <a:cs typeface="Verdana"/>
                          <a:sym typeface="Verdana"/>
                        </a:rPr>
                        <a:t>(PK)</a:t>
                      </a:r>
                      <a:endParaRPr b="1"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DDDFF"/>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latin typeface="Verdana"/>
                          <a:ea typeface="Verdana"/>
                          <a:cs typeface="Verdana"/>
                          <a:sym typeface="Verdana"/>
                        </a:rPr>
                        <a:t>name</a:t>
                      </a:r>
                      <a:endParaRPr b="1"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DDDFF"/>
                    </a:solidFill>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latin typeface="Verdana"/>
                          <a:ea typeface="Verdana"/>
                          <a:cs typeface="Verdana"/>
                          <a:sym typeface="Verdana"/>
                        </a:rPr>
                        <a:t>1</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Verdana"/>
                          <a:ea typeface="Verdana"/>
                          <a:cs typeface="Verdana"/>
                          <a:sym typeface="Verdana"/>
                        </a:rPr>
                        <a:t>Martin McDonagh</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latin typeface="Verdana"/>
                          <a:ea typeface="Verdana"/>
                          <a:cs typeface="Verdana"/>
                          <a:sym typeface="Verdana"/>
                        </a:rPr>
                        <a:t>2</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5F5F5"/>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Verdana"/>
                          <a:ea typeface="Verdana"/>
                          <a:cs typeface="Verdana"/>
                          <a:sym typeface="Verdana"/>
                        </a:rPr>
                        <a:t>Peter Weir</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5F5F5"/>
                    </a:solidFill>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latin typeface="Verdana"/>
                          <a:ea typeface="Verdana"/>
                          <a:cs typeface="Verdana"/>
                          <a:sym typeface="Verdana"/>
                        </a:rPr>
                        <a:t>3</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Verdana"/>
                          <a:ea typeface="Verdana"/>
                          <a:cs typeface="Verdana"/>
                          <a:sym typeface="Verdana"/>
                        </a:rPr>
                        <a:t>Michel Gondry</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latin typeface="Verdana"/>
                          <a:ea typeface="Verdana"/>
                          <a:cs typeface="Verdana"/>
                          <a:sym typeface="Verdana"/>
                        </a:rPr>
                        <a:t>4</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5F5F5"/>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Verdana"/>
                          <a:ea typeface="Verdana"/>
                          <a:cs typeface="Verdana"/>
                          <a:sym typeface="Verdana"/>
                        </a:rPr>
                        <a:t>Christopher Nolan</a:t>
                      </a:r>
                      <a:endParaRPr sz="1000" u="none" cap="none" strike="noStrike">
                        <a:latin typeface="Verdana"/>
                        <a:ea typeface="Verdana"/>
                        <a:cs typeface="Verdana"/>
                        <a:sym typeface="Verdana"/>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5F5F5"/>
                    </a:solidFill>
                  </a:tcPr>
                </a:tc>
              </a:tr>
            </a:tbl>
          </a:graphicData>
        </a:graphic>
      </p:graphicFrame>
      <p:sp>
        <p:nvSpPr>
          <p:cNvPr id="302" name="Google Shape;302;p15"/>
          <p:cNvSpPr txBox="1"/>
          <p:nvPr/>
        </p:nvSpPr>
        <p:spPr>
          <a:xfrm>
            <a:off x="675513" y="2830161"/>
            <a:ext cx="938100" cy="538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Primary Key</a:t>
            </a:r>
            <a:endParaRPr b="1" i="0" sz="1400" u="none" cap="none" strike="noStrike">
              <a:solidFill>
                <a:srgbClr val="000000"/>
              </a:solidFill>
              <a:latin typeface="Arial"/>
              <a:ea typeface="Arial"/>
              <a:cs typeface="Arial"/>
              <a:sym typeface="Arial"/>
            </a:endParaRPr>
          </a:p>
        </p:txBody>
      </p:sp>
      <p:sp>
        <p:nvSpPr>
          <p:cNvPr id="303" name="Google Shape;303;p15"/>
          <p:cNvSpPr txBox="1"/>
          <p:nvPr/>
        </p:nvSpPr>
        <p:spPr>
          <a:xfrm>
            <a:off x="6230736" y="2830161"/>
            <a:ext cx="938100" cy="538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Primary Key</a:t>
            </a:r>
            <a:endParaRPr b="1" i="0" sz="1400" u="none" cap="none" strike="noStrike">
              <a:solidFill>
                <a:srgbClr val="000000"/>
              </a:solidFill>
              <a:latin typeface="Arial"/>
              <a:ea typeface="Arial"/>
              <a:cs typeface="Arial"/>
              <a:sym typeface="Arial"/>
            </a:endParaRPr>
          </a:p>
        </p:txBody>
      </p:sp>
      <p:cxnSp>
        <p:nvCxnSpPr>
          <p:cNvPr id="304" name="Google Shape;304;p15"/>
          <p:cNvCxnSpPr>
            <a:stCxn id="302" idx="2"/>
          </p:cNvCxnSpPr>
          <p:nvPr/>
        </p:nvCxnSpPr>
        <p:spPr>
          <a:xfrm>
            <a:off x="1144563" y="3368961"/>
            <a:ext cx="0" cy="202200"/>
          </a:xfrm>
          <a:prstGeom prst="straightConnector1">
            <a:avLst/>
          </a:prstGeom>
          <a:noFill/>
          <a:ln cap="flat" cmpd="sng" w="9525">
            <a:solidFill>
              <a:srgbClr val="000000"/>
            </a:solidFill>
            <a:prstDash val="solid"/>
            <a:round/>
            <a:headEnd len="sm" w="sm" type="none"/>
            <a:tailEnd len="med" w="med" type="triangle"/>
          </a:ln>
        </p:spPr>
      </p:cxnSp>
      <p:cxnSp>
        <p:nvCxnSpPr>
          <p:cNvPr id="305" name="Google Shape;305;p15"/>
          <p:cNvCxnSpPr>
            <a:stCxn id="303" idx="2"/>
          </p:cNvCxnSpPr>
          <p:nvPr/>
        </p:nvCxnSpPr>
        <p:spPr>
          <a:xfrm>
            <a:off x="6699786" y="3368961"/>
            <a:ext cx="0" cy="202200"/>
          </a:xfrm>
          <a:prstGeom prst="straightConnector1">
            <a:avLst/>
          </a:prstGeom>
          <a:noFill/>
          <a:ln cap="flat" cmpd="sng" w="9525">
            <a:solidFill>
              <a:srgbClr val="000000"/>
            </a:solidFill>
            <a:prstDash val="solid"/>
            <a:round/>
            <a:headEnd len="sm" w="sm" type="none"/>
            <a:tailEnd len="med" w="med" type="triangle"/>
          </a:ln>
        </p:spPr>
      </p:cxnSp>
      <p:sp>
        <p:nvSpPr>
          <p:cNvPr id="306" name="Google Shape;306;p15"/>
          <p:cNvSpPr txBox="1"/>
          <p:nvPr/>
        </p:nvSpPr>
        <p:spPr>
          <a:xfrm>
            <a:off x="1805875" y="3201102"/>
            <a:ext cx="23799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1" lang="en" sz="1600" u="none" cap="none" strike="noStrike">
                <a:solidFill>
                  <a:schemeClr val="dk1"/>
                </a:solidFill>
                <a:latin typeface="Arial"/>
                <a:ea typeface="Arial"/>
                <a:cs typeface="Arial"/>
                <a:sym typeface="Arial"/>
              </a:rPr>
              <a:t>movie</a:t>
            </a:r>
            <a:endParaRPr b="0" i="1" sz="16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8800bd03cf_0_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Continued in next </a:t>
            </a:r>
            <a:r>
              <a:rPr lang="en"/>
              <a:t>week's</a:t>
            </a:r>
            <a:r>
              <a:rPr lang="en"/>
              <a:t> lecture…</a:t>
            </a:r>
            <a:endParaRPr/>
          </a:p>
        </p:txBody>
      </p:sp>
      <p:sp>
        <p:nvSpPr>
          <p:cNvPr id="312" name="Google Shape;312;g38800bd03cf_0_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a:pPr>
            <a:r>
              <a:rPr lang="en">
                <a:solidFill>
                  <a:schemeClr val="dk1"/>
                </a:solidFill>
              </a:rPr>
              <a:t>Specifying primary keys</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Setting up the table relationships</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Refining your design</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Applying the normalization rules</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